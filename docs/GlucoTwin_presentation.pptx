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 — 20 s
Bonjour, nous sommes le groupe qui a travaille sur le Personalized Diabetes Monitoring Twin.
Notre titre annonce la couleur : 'Accuracy is not enough'. Nous allons montrer qu'un jumeau numerique qui optimise son erreur moyenne peut devenir cliniquement inutile — et ce que nous proposons a la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HAKIM — 1 min 15
Le diabete touche plus de 500 millions d'adultes, et le type 2 represente plus de 90 % des cas.
Deux difficultes rendent la prise en charge standardisee inefficace.
Premierement, la variabilite entre individus : a repas identique, la reponse glycemique change enormement d'une personne a l'autre. Une recommandation moyenne n'est optimale pour presque personne.
Deuxiemement, la dynamique temporelle : la glycemie depend de facteurs couples — glucides, insuline, activite, stress, sommeil, hormones. C'est un systeme difficile a anticiper.
D'ou l'idee du jumeau numerique.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JEAN DIREL — 1 min 45
Le jumeau numerique est une replique virtuelle du patient, mise a jour en continu par ses donnees reelles.
Les resultats publies sont spectaculaires : des baisses d'HbA1c de 1,8 a 2,9 points, des taux de remission du diabete de type 2 entre 60 et 76 %.
Mais en faisant notre revue de litterature, nous avons constate quelque chose. Quatre exigences comptent pour qu'un jumeau soit utilisable : la precision, l'interpretabilite, l'equite entre patients, et la validabilite.
Ce tableau resume ce que nous avons trouve. Chaque travail excelle sur une colonne ou deux. AUCUN ne couvre les quatre. C'est le manque que nous avons voulu adresser.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 — 50 s
Voici notre these, et elle est un peu provocatrice.
A 30 minutes, la prevision glycemique est un probleme sature. Sur les vraies donnees de CGMacros, un modele entraine obtient 13,11 mg/dL d'erreur. Et la methode la plus bete du monde — dire que la glycemie ne bougera pas — obtient 13,39.
Autrement dit : quasiment ex aequo. Des dizaines de publications optimisent un probleme deja resolu.
La question utile n'est donc pas 'quel modele a la plus petite erreur', mais : OU la prevision a-t-elle une valeur clinique reelle, et SAIT-ON quand lui faire confiance ?
Tout notre travail decoule de cette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XAVIER — 1 min 50
Notre reponse tient dans cette architecture en quatre couches.
La plupart des jumeaux vont directement des donnees a la glycemie, avec une boite noire au milieu. Nous, nous forcons le passage par un etat metabolique lisible.
Couche 0 : l'emploi du temps — ce que la personne fait vraiment.
Couche 1 : l'etat metabolique. QUATORZE concepts physiologiques. Et point crucial : cette couche N'EST PAS APPRISE. Ce sont des equations publiees — les METs du Compendium, les equations de Frayn de 1983, la cinetique d'absorption, le rythme circadien.
Couche 2 : la prevision, elle, est apprise.
Couche 3 : la traduction en etats de risque.
Cette idee porte un nom en machine learning : les Concept Bottleneck Models. Nous ne l'avons pas trouvee appliquee a la glycemie.
Trois avantages concrets. C'est explicable par construction. C'est corrigeable — un clinicien peut rectifier un concept. Et c'est tracable — chaque conseil pointe son mecanisme.
Passons a la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XAVIER (demo au clavier) — 3 min
DEROULE — repeter au moins deux fois avant le jour J.
1. Poser l'architecture : montrer le bandeau des 4 couches en haut de l'app. 'On retrouve exactement les couches de la slide precedente.'
2. Montrer le probleme : pic a 248 mg/dL vers 22h. Lire l'explication en bas : le modele dit POURQUOI, pas seulement COMBIEN.
3. Survoler la courbe vers 22h : les concepts se mettent a jour en direct. 'A cet instant le corps absorbe encore tant de glucides, et la sensibilite a l'insuline est tombee a 0,83.'
4. LE MOMENT FORT — le comparateur d'interventions. Le jumeau simule six journees alternatives completes et les classe. Reduire les glucides : -46 mg/dL. Passer en index glycemique bas : -43. Avancer le repas de 3 h : seulement -4.
   Insister : c'est un RESULTAT MESURE, pas une intuition. Et il contredit l'idee recue selon laquelle l'heure du repas pese autant que sa composition.
5. Monter le phenomene de l'aube a 1,6 : la glycemie remonte avant le reveil, sans aucun repas. Un mecanisme que le patient ne peut pas deviner seul.
PLAN B si la demo plante : captures d'ecran dans le dossier docs/figures. Ne jamais debugger devant le jury.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SETH — 1 min 20
Cette slide est celle ou se joue la credibilite de tout le projet.
Trois regles, tenues par construction dans notre code.
Un : leave-one-patient-out. Chaque patient sert de test sans jamais avoir ete vu a l'entrainement. Les mesures CGM d'une meme personne sont tres correlees entre elles ; un decoupage aleatoire donnerait des resultats bien trop optimistes.
Deux : toujours compare a la persistance. C'est une baseline redoutable a court horizon.
Trois : toujours avec une incertitude, par prediction conforme — qui garantit la couverture annoncee sans hypothese sur la distribution des erreurs.
Et nous ajoutons des metriques cliniques, parce qu'une erreur moyenne excellente peut coexister avec une incapacite totale a detecter une hypoglycemie.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SETH — 1 min
Premier resultat. L'avantage du modele sur la persistance TRIPLE entre 30 et 120 minutes : de 2 a presque 6 mg/dL.
Tous les tests sont hautement significatifs, et a 120 minutes le modele est meilleur pour 42 patients sur 45.
Le troisieme panneau est important : un point par patient. La dispersion grandit avec l'horizon — nous ne cachons pas que certains patients restent mal predits.
Une precision d'honnetete : notre cohorte est SYNTHETIQUE, et elle rend la tache plus facile qu'en realite. Ce qu'il faut retenir, ce n'est pas la valeur absolue a 30 minutes, c'est la PENTE. C'est elle qui se transferera aux vraies donnees.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SETH — 1 min 20
Voici notre resultat le plus important, et c'est une contradiction.
Panneau 1 : la MAE dit que ca s'ameliore avec l'horizon. Panneau 2 : la detection des hyperglycemies dit exactement l'inverse — elle s'effondre de 44 % a moins de 2 %.
Deux metriques, sur le meme modele, verdicts opposes.
Panneau 3 : la cause, mesuree. L'ecart-type des predictions tombe a 0,69 fois celui des vraies valeurs. Le modele se refugie dans la moyenne. Plus l'horizon s'allonge, moins il ose annoncer les valeurs extremes.
Et les valeurs extremes, c'est precisement ce qui compte pour le patient.
C'est la demonstration de notre titre : optimiser la precision moyenne ne rend pas un jumeau cliniquement utile. C'est pour ca que nous mesurons quatre choses, et pas 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JEAN DIREL — 50 s
Troisieme resultat, et c'est celui qui justifie toute la couche 1.
On empile les groupes de concepts. Avec l'historique glycemique seul : 19 mg/dL d'erreur. En ajoutant les repas : 13,8. L'activite : 12,8. Les modulateurs : 12,5. Soit 34 % de mieux.
MAIS — et c'est important de le dire nous-memes avant qu'on nous le demande — sur des donnees synthetiques ce resultat est partiellement circulaire. Notre glycemie simulee est engendree A PARTIR des concepts que le modele recoit. Qu'ils aident etait joue d'avance.
Ce que cette experience prouve, c'est que notre pipeline detecte un signal quand il y en a un. Savoir si les concepts aident VRAIMENT, c'est l'experience decisive, et elle demande des donnees reelles.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JEAN DIREL — 50 s
Ce que nous ne pouvons PAS affirmer.
Premier point, le plus important : aucune donnee reelle. Nos resultats valident le logiciel et le protocole, pas la physiologie.
Deuxieme : notre couche 1 est une chaine d'ESTIMATION, pas de mesure. Le VCO2 n'est mesurable qu'en laboratoire, donc la partition glucides-lipides porte environ 25 % d'incertitude. Nous l'AFFICHONS plutot que de la masquer.
Troisieme : aucune validite clinique. Aucune dose, aucun traitement.
Quatrieme : notre cohorte ne contenait aucune hypoglycemie, donc la detection la plus importante cliniquement n'a pas pu etre evaluee.
Enoncer soi-meme ses limites fait partie de la methode. C'est ce qui separe la recherche d'un argumentaire commercial.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 — 50 s
Pour conclure.
La plupart des jumeaux numeriques predisent un chiffre. Le notre explique un mecanisme : de ce que vous faites, a ce que votre corps consomme, a ce que votre glycemie devient, jusqu'a ce que vous pouvez changer. Chaque etape lisible et verifiable.
Trois contributions. Un jumeau interpretable PAR CONSTRUCTION, pas avec des explications rajoutees apres coup. Une evaluation honnete, avec leave-one-patient-out, baseline de persistance et intervalles garantis. Et un resultat mesure : la contradiction entre precision moyenne et utilite clinique.
La suite, c'est brancher les vraies donnees de CGMacros — 45 participants reels. Notre protocole est deja fige, et c'est precisement ce qui rendra la reponse credible : nous ne pourrons pas etre accuses de l'avoir ajuste apres coup.
Merci, nous sommes prets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2E"/>
        </a:solidFill>
      </p:bgPr>
    </p:bg>
    <p:spTree>
      <p:nvGrpSpPr>
        <p:cNvPr id="1" name=""/>
        <p:cNvGrpSpPr/>
        <p:nvPr/>
      </p:nvGrpSpPr>
      <p:grpSpPr>
        <a:xfrm>
          <a:off x="0" y="0"/>
          <a:ext cx="0" cy="0"/>
          <a:chOff x="0" y="0"/>
          <a:chExt cx="0" cy="0"/>
        </a:xfrm>
      </p:grpSpPr>
      <p:sp>
        <p:nvSpPr>
          <p:cNvPr id="2" name="Shape 0"/>
          <p:cNvSpPr/>
          <p:nvPr/>
        </p:nvSpPr>
        <p:spPr>
          <a:xfrm>
            <a:off x="9509760" y="-1371600"/>
            <a:ext cx="5486400" cy="5486400"/>
          </a:xfrm>
          <a:prstGeom prst="ellipse">
            <a:avLst/>
          </a:prstGeom>
          <a:solidFill>
            <a:srgbClr val="14304A"/>
          </a:solidFill>
          <a:ln/>
        </p:spPr>
      </p:sp>
      <p:sp>
        <p:nvSpPr>
          <p:cNvPr id="3" name="Shape 1"/>
          <p:cNvSpPr/>
          <p:nvPr/>
        </p:nvSpPr>
        <p:spPr>
          <a:xfrm>
            <a:off x="10607040" y="4023360"/>
            <a:ext cx="3108960" cy="3108960"/>
          </a:xfrm>
          <a:prstGeom prst="ellipse">
            <a:avLst/>
          </a:prstGeom>
          <a:solidFill>
            <a:srgbClr val="14304A"/>
          </a:solidFill>
          <a:ln/>
        </p:spPr>
      </p:sp>
      <p:sp>
        <p:nvSpPr>
          <p:cNvPr id="4" name="Text 2"/>
          <p:cNvSpPr/>
          <p:nvPr/>
        </p:nvSpPr>
        <p:spPr>
          <a:xfrm>
            <a:off x="731520" y="1600200"/>
            <a:ext cx="82296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GlucoTwin</a:t>
            </a:r>
            <a:endParaRPr lang="en-US" sz="5400" dirty="0"/>
          </a:p>
        </p:txBody>
      </p:sp>
      <p:sp>
        <p:nvSpPr>
          <p:cNvPr id="5" name="Text 3"/>
          <p:cNvSpPr/>
          <p:nvPr/>
        </p:nvSpPr>
        <p:spPr>
          <a:xfrm>
            <a:off x="731520" y="2487168"/>
            <a:ext cx="8778240" cy="566928"/>
          </a:xfrm>
          <a:prstGeom prst="rect">
            <a:avLst/>
          </a:prstGeom>
          <a:noFill/>
          <a:ln/>
        </p:spPr>
        <p:txBody>
          <a:bodyPr wrap="square" lIns="0" tIns="0" rIns="0" bIns="0" rtlCol="0" anchor="ctr"/>
          <a:lstStyle/>
          <a:p>
            <a:pPr indent="0" marL="0">
              <a:buNone/>
            </a:pPr>
            <a:r>
              <a:rPr lang="en-US" sz="2600" i="1" dirty="0">
                <a:solidFill>
                  <a:srgbClr val="EB6834"/>
                </a:solidFill>
                <a:latin typeface="Cambria" pitchFamily="34" charset="0"/>
                <a:ea typeface="Cambria" pitchFamily="34" charset="-122"/>
                <a:cs typeface="Cambria" pitchFamily="34" charset="-120"/>
              </a:rPr>
              <a:t>Accuracy is not enough</a:t>
            </a:r>
            <a:endParaRPr lang="en-US" sz="2600" dirty="0"/>
          </a:p>
        </p:txBody>
      </p:sp>
      <p:sp>
        <p:nvSpPr>
          <p:cNvPr id="6" name="Text 4"/>
          <p:cNvSpPr/>
          <p:nvPr/>
        </p:nvSpPr>
        <p:spPr>
          <a:xfrm>
            <a:off x="731520" y="3200400"/>
            <a:ext cx="8412480" cy="868680"/>
          </a:xfrm>
          <a:prstGeom prst="rect">
            <a:avLst/>
          </a:prstGeom>
          <a:noFill/>
          <a:ln/>
        </p:spPr>
        <p:txBody>
          <a:bodyPr wrap="square" lIns="0" tIns="0" rIns="0" bIns="0" rtlCol="0" anchor="ctr"/>
          <a:lstStyle/>
          <a:p>
            <a:pPr indent="0" marL="0">
              <a:lnSpc>
                <a:spcPts val="2200"/>
              </a:lnSpc>
              <a:buNone/>
            </a:pPr>
            <a:r>
              <a:rPr lang="en-US" sz="1500" dirty="0">
                <a:solidFill>
                  <a:srgbClr val="AFC3D4"/>
                </a:solidFill>
                <a:latin typeface="Calibri" pitchFamily="34" charset="0"/>
                <a:ea typeface="Calibri" pitchFamily="34" charset="-122"/>
                <a:cs typeface="Calibri" pitchFamily="34" charset="-120"/>
              </a:rPr>
              <a:t>An interpretable digital twin for type 2 diabetes,</a:t>
            </a:r>
            <a:endParaRPr lang="en-US" sz="1500" dirty="0"/>
          </a:p>
          <a:p>
            <a:pPr indent="0" marL="0">
              <a:lnSpc>
                <a:spcPts val="2200"/>
              </a:lnSpc>
              <a:buNone/>
            </a:pPr>
            <a:r>
              <a:rPr lang="en-US" sz="1500" dirty="0">
                <a:solidFill>
                  <a:srgbClr val="AFC3D4"/>
                </a:solidFill>
                <a:latin typeface="Calibri" pitchFamily="34" charset="0"/>
                <a:ea typeface="Calibri" pitchFamily="34" charset="-122"/>
                <a:cs typeface="Calibri" pitchFamily="34" charset="-120"/>
              </a:rPr>
              <a:t>and an honest look at what glucose forecasting is worth</a:t>
            </a:r>
            <a:endParaRPr lang="en-US" sz="1500" dirty="0"/>
          </a:p>
        </p:txBody>
      </p:sp>
      <p:sp>
        <p:nvSpPr>
          <p:cNvPr id="7" name="Shape 5"/>
          <p:cNvSpPr/>
          <p:nvPr/>
        </p:nvSpPr>
        <p:spPr>
          <a:xfrm>
            <a:off x="777240" y="4315968"/>
            <a:ext cx="1828800" cy="0"/>
          </a:xfrm>
          <a:prstGeom prst="line">
            <a:avLst/>
          </a:prstGeom>
          <a:noFill/>
          <a:ln w="25400">
            <a:solidFill>
              <a:srgbClr val="EB6834"/>
            </a:solidFill>
            <a:prstDash val="solid"/>
          </a:ln>
        </p:spPr>
      </p:sp>
      <p:sp>
        <p:nvSpPr>
          <p:cNvPr id="8" name="Text 6"/>
          <p:cNvSpPr/>
          <p:nvPr/>
        </p:nvSpPr>
        <p:spPr>
          <a:xfrm>
            <a:off x="731520" y="4526280"/>
            <a:ext cx="8778240" cy="31089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Regis LIKASSI  ·  Hakim DJOMO  ·  Jean Direl NZE  ·  Xavier ONDO  ·  Seth NDINGA</a:t>
            </a:r>
            <a:endParaRPr lang="en-US" sz="1300" dirty="0"/>
          </a:p>
        </p:txBody>
      </p:sp>
      <p:sp>
        <p:nvSpPr>
          <p:cNvPr id="9" name="Text 7"/>
          <p:cNvSpPr/>
          <p:nvPr/>
        </p:nvSpPr>
        <p:spPr>
          <a:xfrm>
            <a:off x="731520" y="4892040"/>
            <a:ext cx="8778240" cy="310896"/>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AI for Health — PGE5  ·  Prof. Anuradha Kar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731520"/>
          </a:xfrm>
          <a:prstGeom prst="rect">
            <a:avLst/>
          </a:prstGeom>
          <a:noFill/>
          <a:ln/>
        </p:spPr>
        <p:txBody>
          <a:bodyPr wrap="square" lIns="0" tIns="0" rIns="0" bIns="0" rtlCol="0" anchor="ctr"/>
          <a:lstStyle/>
          <a:p>
            <a:pPr indent="0" marL="0">
              <a:buNone/>
            </a:pPr>
            <a:r>
              <a:rPr lang="en-US" sz="3400" b="1" dirty="0">
                <a:solidFill>
                  <a:srgbClr val="0F1E2E"/>
                </a:solidFill>
                <a:latin typeface="Cambria" pitchFamily="34" charset="0"/>
                <a:ea typeface="Cambria" pitchFamily="34" charset="-122"/>
                <a:cs typeface="Cambria" pitchFamily="34" charset="-120"/>
              </a:rPr>
              <a:t>Why standard diabetes care falls short</a:t>
            </a:r>
            <a:endParaRPr lang="en-US" sz="3400" dirty="0"/>
          </a:p>
        </p:txBody>
      </p:sp>
      <p:sp>
        <p:nvSpPr>
          <p:cNvPr id="3" name="Text 1"/>
          <p:cNvSpPr/>
          <p:nvPr/>
        </p:nvSpPr>
        <p:spPr>
          <a:xfrm>
            <a:off x="502920" y="1115568"/>
            <a:ext cx="11155680" cy="384048"/>
          </a:xfrm>
          <a:prstGeom prst="rect">
            <a:avLst/>
          </a:prstGeom>
          <a:noFill/>
          <a:ln/>
        </p:spPr>
        <p:txBody>
          <a:bodyPr wrap="square" lIns="0" tIns="0" rIns="0" bIns="0" rtlCol="0" anchor="ctr"/>
          <a:lstStyle/>
          <a:p>
            <a:pPr indent="0" marL="0">
              <a:buNone/>
            </a:pPr>
            <a:r>
              <a:rPr lang="en-US" sz="1500" dirty="0">
                <a:solidFill>
                  <a:srgbClr val="5A6B7B"/>
                </a:solidFill>
                <a:latin typeface="Calibri" pitchFamily="34" charset="0"/>
                <a:ea typeface="Calibri" pitchFamily="34" charset="-122"/>
                <a:cs typeface="Calibri" pitchFamily="34" charset="-120"/>
              </a:rPr>
              <a:t>Two structural difficulties that averages cannot solve</a:t>
            </a:r>
            <a:endParaRPr lang="en-US" sz="1500" dirty="0"/>
          </a:p>
        </p:txBody>
      </p:sp>
      <p:sp>
        <p:nvSpPr>
          <p:cNvPr id="4" name="Shape 2"/>
          <p:cNvSpPr/>
          <p:nvPr/>
        </p:nvSpPr>
        <p:spPr>
          <a:xfrm>
            <a:off x="502920" y="1783080"/>
            <a:ext cx="6949440" cy="1463040"/>
          </a:xfrm>
          <a:prstGeom prst="roundRect">
            <a:avLst>
              <a:gd name="adj" fmla="val 5625"/>
            </a:avLst>
          </a:prstGeom>
          <a:solidFill>
            <a:srgbClr val="F4F7FA"/>
          </a:solidFill>
          <a:ln w="12700">
            <a:solidFill>
              <a:srgbClr val="DDE4EA"/>
            </a:solidFill>
            <a:prstDash val="solid"/>
          </a:ln>
        </p:spPr>
      </p:sp>
      <p:sp>
        <p:nvSpPr>
          <p:cNvPr id="5" name="Shape 3"/>
          <p:cNvSpPr/>
          <p:nvPr/>
        </p:nvSpPr>
        <p:spPr>
          <a:xfrm>
            <a:off x="822960" y="2112264"/>
            <a:ext cx="420624" cy="420624"/>
          </a:xfrm>
          <a:prstGeom prst="ellipse">
            <a:avLst/>
          </a:prstGeom>
          <a:solidFill>
            <a:srgbClr val="2A78D6"/>
          </a:solidFill>
          <a:ln/>
        </p:spPr>
      </p:sp>
      <p:sp>
        <p:nvSpPr>
          <p:cNvPr id="6" name="Text 4"/>
          <p:cNvSpPr/>
          <p:nvPr/>
        </p:nvSpPr>
        <p:spPr>
          <a:xfrm>
            <a:off x="822960" y="2112264"/>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984248"/>
            <a:ext cx="5852160" cy="329184"/>
          </a:xfrm>
          <a:prstGeom prst="rect">
            <a:avLst/>
          </a:prstGeom>
          <a:noFill/>
          <a:ln/>
        </p:spPr>
        <p:txBody>
          <a:bodyPr wrap="square" lIns="0" tIns="0" rIns="0" bIns="0" rtlCol="0" anchor="ctr"/>
          <a:lstStyle/>
          <a:p>
            <a:pPr indent="0" marL="0">
              <a:buNone/>
            </a:pPr>
            <a:r>
              <a:rPr lang="en-US" sz="1700" b="1" dirty="0">
                <a:solidFill>
                  <a:srgbClr val="0F1E2E"/>
                </a:solidFill>
                <a:latin typeface="Calibri" pitchFamily="34" charset="0"/>
                <a:ea typeface="Calibri" pitchFamily="34" charset="-122"/>
                <a:cs typeface="Calibri" pitchFamily="34" charset="-120"/>
              </a:rPr>
              <a:t>Everyone responds differently</a:t>
            </a:r>
            <a:endParaRPr lang="en-US" sz="1700" dirty="0"/>
          </a:p>
        </p:txBody>
      </p:sp>
      <p:sp>
        <p:nvSpPr>
          <p:cNvPr id="8" name="Text 6"/>
          <p:cNvSpPr/>
          <p:nvPr/>
        </p:nvSpPr>
        <p:spPr>
          <a:xfrm>
            <a:off x="1417320" y="2350008"/>
            <a:ext cx="5852160" cy="786384"/>
          </a:xfrm>
          <a:prstGeom prst="rect">
            <a:avLst/>
          </a:prstGeom>
          <a:noFill/>
          <a:ln/>
        </p:spPr>
        <p:txBody>
          <a:bodyPr wrap="square" lIns="0" tIns="0" rIns="0" bIns="0" rtlCol="0" anchor="ctr"/>
          <a:lstStyle/>
          <a:p>
            <a:pPr indent="0" marL="0">
              <a:lnSpc>
                <a:spcPts val="1700"/>
              </a:lnSpc>
              <a:buNone/>
            </a:pPr>
            <a:r>
              <a:rPr lang="en-US" sz="1250" dirty="0">
                <a:solidFill>
                  <a:srgbClr val="5A6B7B"/>
                </a:solidFill>
                <a:latin typeface="Calibri" pitchFamily="34" charset="0"/>
                <a:ea typeface="Calibri" pitchFamily="34" charset="-122"/>
                <a:cs typeface="Calibri" pitchFamily="34" charset="-120"/>
              </a:rPr>
              <a:t>The same meal produces very different glucose responses across individuals. Population-level guidelines are therefore sub-optimal for almost everyone.</a:t>
            </a:r>
            <a:endParaRPr lang="en-US" sz="1250" dirty="0"/>
          </a:p>
        </p:txBody>
      </p:sp>
      <p:sp>
        <p:nvSpPr>
          <p:cNvPr id="9" name="Shape 7"/>
          <p:cNvSpPr/>
          <p:nvPr/>
        </p:nvSpPr>
        <p:spPr>
          <a:xfrm>
            <a:off x="502920" y="3474720"/>
            <a:ext cx="6949440" cy="1463040"/>
          </a:xfrm>
          <a:prstGeom prst="roundRect">
            <a:avLst>
              <a:gd name="adj" fmla="val 5625"/>
            </a:avLst>
          </a:prstGeom>
          <a:solidFill>
            <a:srgbClr val="F4F7FA"/>
          </a:solidFill>
          <a:ln w="12700">
            <a:solidFill>
              <a:srgbClr val="DDE4EA"/>
            </a:solidFill>
            <a:prstDash val="solid"/>
          </a:ln>
        </p:spPr>
      </p:sp>
      <p:sp>
        <p:nvSpPr>
          <p:cNvPr id="10" name="Shape 8"/>
          <p:cNvSpPr/>
          <p:nvPr/>
        </p:nvSpPr>
        <p:spPr>
          <a:xfrm>
            <a:off x="822960" y="3803904"/>
            <a:ext cx="420624" cy="420624"/>
          </a:xfrm>
          <a:prstGeom prst="ellipse">
            <a:avLst/>
          </a:prstGeom>
          <a:solidFill>
            <a:srgbClr val="EB6834"/>
          </a:solidFill>
          <a:ln/>
        </p:spPr>
      </p:sp>
      <p:sp>
        <p:nvSpPr>
          <p:cNvPr id="11" name="Text 9"/>
          <p:cNvSpPr/>
          <p:nvPr/>
        </p:nvSpPr>
        <p:spPr>
          <a:xfrm>
            <a:off x="822960" y="3803904"/>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417320" y="3675888"/>
            <a:ext cx="5852160" cy="329184"/>
          </a:xfrm>
          <a:prstGeom prst="rect">
            <a:avLst/>
          </a:prstGeom>
          <a:noFill/>
          <a:ln/>
        </p:spPr>
        <p:txBody>
          <a:bodyPr wrap="square" lIns="0" tIns="0" rIns="0" bIns="0" rtlCol="0" anchor="ctr"/>
          <a:lstStyle/>
          <a:p>
            <a:pPr indent="0" marL="0">
              <a:buNone/>
            </a:pPr>
            <a:r>
              <a:rPr lang="en-US" sz="1700" b="1" dirty="0">
                <a:solidFill>
                  <a:srgbClr val="0F1E2E"/>
                </a:solidFill>
                <a:latin typeface="Calibri" pitchFamily="34" charset="0"/>
                <a:ea typeface="Calibri" pitchFamily="34" charset="-122"/>
                <a:cs typeface="Calibri" pitchFamily="34" charset="-120"/>
              </a:rPr>
              <a:t>Everything is coupled in time</a:t>
            </a:r>
            <a:endParaRPr lang="en-US" sz="1700" dirty="0"/>
          </a:p>
        </p:txBody>
      </p:sp>
      <p:sp>
        <p:nvSpPr>
          <p:cNvPr id="13" name="Text 11"/>
          <p:cNvSpPr/>
          <p:nvPr/>
        </p:nvSpPr>
        <p:spPr>
          <a:xfrm>
            <a:off x="1417320" y="4041648"/>
            <a:ext cx="5852160" cy="786384"/>
          </a:xfrm>
          <a:prstGeom prst="rect">
            <a:avLst/>
          </a:prstGeom>
          <a:noFill/>
          <a:ln/>
        </p:spPr>
        <p:txBody>
          <a:bodyPr wrap="square" lIns="0" tIns="0" rIns="0" bIns="0" rtlCol="0" anchor="ctr"/>
          <a:lstStyle/>
          <a:p>
            <a:pPr indent="0" marL="0">
              <a:lnSpc>
                <a:spcPts val="1700"/>
              </a:lnSpc>
              <a:buNone/>
            </a:pPr>
            <a:r>
              <a:rPr lang="en-US" sz="1250" dirty="0">
                <a:solidFill>
                  <a:srgbClr val="5A6B7B"/>
                </a:solidFill>
                <a:latin typeface="Calibri" pitchFamily="34" charset="0"/>
                <a:ea typeface="Calibri" pitchFamily="34" charset="-122"/>
                <a:cs typeface="Calibri" pitchFamily="34" charset="-120"/>
              </a:rPr>
              <a:t>Glucose depends on carbohydrates, insulin, activity, stress, sleep and hormones — all interacting. It is hard to predict beyond a few tens of minutes.</a:t>
            </a:r>
            <a:endParaRPr lang="en-US" sz="1250" dirty="0"/>
          </a:p>
        </p:txBody>
      </p:sp>
      <p:sp>
        <p:nvSpPr>
          <p:cNvPr id="14" name="Shape 12"/>
          <p:cNvSpPr/>
          <p:nvPr/>
        </p:nvSpPr>
        <p:spPr>
          <a:xfrm>
            <a:off x="7772400" y="1783080"/>
            <a:ext cx="3886200" cy="3200400"/>
          </a:xfrm>
          <a:prstGeom prst="roundRect">
            <a:avLst>
              <a:gd name="adj" fmla="val 2571"/>
            </a:avLst>
          </a:prstGeom>
          <a:solidFill>
            <a:srgbClr val="0F1E2E"/>
          </a:solidFill>
          <a:ln w="12700">
            <a:solidFill>
              <a:srgbClr val="DDE4EA"/>
            </a:solidFill>
            <a:prstDash val="solid"/>
          </a:ln>
        </p:spPr>
      </p:sp>
      <p:sp>
        <p:nvSpPr>
          <p:cNvPr id="15" name="Text 13"/>
          <p:cNvSpPr/>
          <p:nvPr/>
        </p:nvSpPr>
        <p:spPr>
          <a:xfrm>
            <a:off x="7955280" y="2148840"/>
            <a:ext cx="3520440" cy="868680"/>
          </a:xfrm>
          <a:prstGeom prst="rect">
            <a:avLst/>
          </a:prstGeom>
          <a:noFill/>
          <a:ln/>
        </p:spPr>
        <p:txBody>
          <a:bodyPr wrap="square" lIns="0" tIns="0" rIns="0" bIns="0"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537M</a:t>
            </a:r>
            <a:endParaRPr lang="en-US" sz="5200" dirty="0"/>
          </a:p>
        </p:txBody>
      </p:sp>
      <p:sp>
        <p:nvSpPr>
          <p:cNvPr id="16" name="Text 14"/>
          <p:cNvSpPr/>
          <p:nvPr/>
        </p:nvSpPr>
        <p:spPr>
          <a:xfrm>
            <a:off x="7955280" y="3017520"/>
            <a:ext cx="3520440" cy="640080"/>
          </a:xfrm>
          <a:prstGeom prst="rect">
            <a:avLst/>
          </a:prstGeom>
          <a:noFill/>
          <a:ln/>
        </p:spPr>
        <p:txBody>
          <a:bodyPr wrap="square" lIns="0" tIns="0" rIns="0" bIns="0" rtlCol="0" anchor="ctr"/>
          <a:lstStyle/>
          <a:p>
            <a:pPr algn="ctr" indent="0" marL="0">
              <a:lnSpc>
                <a:spcPts val="1800"/>
              </a:lnSpc>
              <a:buNone/>
            </a:pPr>
            <a:r>
              <a:rPr lang="en-US" sz="1300" dirty="0">
                <a:solidFill>
                  <a:srgbClr val="AFC3D4"/>
                </a:solidFill>
                <a:latin typeface="Calibri" pitchFamily="34" charset="0"/>
                <a:ea typeface="Calibri" pitchFamily="34" charset="-122"/>
                <a:cs typeface="Calibri" pitchFamily="34" charset="-120"/>
              </a:rPr>
              <a:t>adults living with diabetes</a:t>
            </a:r>
            <a:endParaRPr lang="en-US" sz="1300" dirty="0"/>
          </a:p>
          <a:p>
            <a:pPr algn="ctr" indent="0" marL="0">
              <a:lnSpc>
                <a:spcPts val="1800"/>
              </a:lnSpc>
              <a:buNone/>
            </a:pPr>
            <a:r>
              <a:rPr lang="en-US" sz="1300" dirty="0">
                <a:solidFill>
                  <a:srgbClr val="AFC3D4"/>
                </a:solidFill>
                <a:latin typeface="Calibri" pitchFamily="34" charset="0"/>
                <a:ea typeface="Calibri" pitchFamily="34" charset="-122"/>
                <a:cs typeface="Calibri" pitchFamily="34" charset="-120"/>
              </a:rPr>
              <a:t>worldwide</a:t>
            </a:r>
            <a:endParaRPr lang="en-US" sz="1300" dirty="0"/>
          </a:p>
        </p:txBody>
      </p:sp>
      <p:sp>
        <p:nvSpPr>
          <p:cNvPr id="17" name="Text 15"/>
          <p:cNvSpPr/>
          <p:nvPr/>
        </p:nvSpPr>
        <p:spPr>
          <a:xfrm>
            <a:off x="7955280" y="3794760"/>
            <a:ext cx="3520440" cy="731520"/>
          </a:xfrm>
          <a:prstGeom prst="rect">
            <a:avLst/>
          </a:prstGeom>
          <a:noFill/>
          <a:ln/>
        </p:spPr>
        <p:txBody>
          <a:bodyPr wrap="square" lIns="0" tIns="0" rIns="0" bIns="0" rtlCol="0" anchor="ctr"/>
          <a:lstStyle/>
          <a:p>
            <a:pPr algn="ctr" indent="0" marL="0">
              <a:lnSpc>
                <a:spcPts val="1700"/>
              </a:lnSpc>
              <a:buNone/>
            </a:pPr>
            <a:r>
              <a:rPr lang="en-US" sz="1200" i="1" dirty="0">
                <a:solidFill>
                  <a:srgbClr val="EB6834"/>
                </a:solidFill>
                <a:latin typeface="Calibri" pitchFamily="34" charset="0"/>
                <a:ea typeface="Calibri" pitchFamily="34" charset="-122"/>
                <a:cs typeface="Calibri" pitchFamily="34" charset="-120"/>
              </a:rPr>
              <a:t>Type 2 accounts for over 90 % of cases</a:t>
            </a:r>
            <a:endParaRPr lang="en-US" sz="1200" dirty="0"/>
          </a:p>
          <a:p>
            <a:pPr algn="ctr" indent="0" marL="0">
              <a:lnSpc>
                <a:spcPts val="1700"/>
              </a:lnSpc>
              <a:buNone/>
            </a:pPr>
            <a:r>
              <a:rPr lang="en-US" sz="1200" i="1" dirty="0">
                <a:solidFill>
                  <a:srgbClr val="EB6834"/>
                </a:solidFill>
                <a:latin typeface="Calibri" pitchFamily="34" charset="0"/>
                <a:ea typeface="Calibri" pitchFamily="34" charset="-122"/>
                <a:cs typeface="Calibri" pitchFamily="34" charset="-120"/>
              </a:rPr>
              <a:t>and is largely driven by lifestyle</a:t>
            </a:r>
            <a:endParaRPr lang="en-US" sz="1200" dirty="0"/>
          </a:p>
        </p:txBody>
      </p:sp>
      <p:sp>
        <p:nvSpPr>
          <p:cNvPr id="18" name="Text 16"/>
          <p:cNvSpPr/>
          <p:nvPr/>
        </p:nvSpPr>
        <p:spPr>
          <a:xfrm>
            <a:off x="502920" y="6327648"/>
            <a:ext cx="6400800" cy="292608"/>
          </a:xfrm>
          <a:prstGeom prst="rect">
            <a:avLst/>
          </a:prstGeom>
          <a:noFill/>
          <a:ln/>
        </p:spPr>
        <p:txBody>
          <a:bodyPr wrap="square" lIns="0" tIns="0" rIns="0" bIns="0" rtlCol="0" anchor="ctr"/>
          <a:lstStyle/>
          <a:p>
            <a:pPr indent="0" marL="0">
              <a:buNone/>
            </a:pPr>
            <a:r>
              <a:rPr lang="en-US" sz="1000" dirty="0">
                <a:solidFill>
                  <a:srgbClr val="5A6B7B"/>
                </a:solidFill>
                <a:latin typeface="Calibri" pitchFamily="34" charset="0"/>
                <a:ea typeface="Calibri" pitchFamily="34" charset="-122"/>
                <a:cs typeface="Calibri" pitchFamily="34" charset="-120"/>
              </a:rPr>
              <a:t>Hakim DJOMO</a:t>
            </a:r>
            <a:endParaRPr lang="en-US" sz="1000" dirty="0"/>
          </a:p>
        </p:txBody>
      </p:sp>
      <p:sp>
        <p:nvSpPr>
          <p:cNvPr id="19" name="Text 17"/>
          <p:cNvSpPr/>
          <p:nvPr/>
        </p:nvSpPr>
        <p:spPr>
          <a:xfrm>
            <a:off x="11247120" y="6327648"/>
            <a:ext cx="457200" cy="292608"/>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731520"/>
          </a:xfrm>
          <a:prstGeom prst="rect">
            <a:avLst/>
          </a:prstGeom>
          <a:noFill/>
          <a:ln/>
        </p:spPr>
        <p:txBody>
          <a:bodyPr wrap="square" lIns="0" tIns="0" rIns="0" bIns="0" rtlCol="0" anchor="ctr"/>
          <a:lstStyle/>
          <a:p>
            <a:pPr indent="0" marL="0">
              <a:buNone/>
            </a:pPr>
            <a:r>
              <a:rPr lang="en-US" sz="3400" b="1" dirty="0">
                <a:solidFill>
                  <a:srgbClr val="0F1E2E"/>
                </a:solidFill>
                <a:latin typeface="Cambria" pitchFamily="34" charset="0"/>
                <a:ea typeface="Cambria" pitchFamily="34" charset="-122"/>
                <a:cs typeface="Cambria" pitchFamily="34" charset="-120"/>
              </a:rPr>
              <a:t>Digital twins: promise, and a gap</a:t>
            </a:r>
            <a:endParaRPr lang="en-US" sz="3400" dirty="0"/>
          </a:p>
        </p:txBody>
      </p:sp>
      <p:sp>
        <p:nvSpPr>
          <p:cNvPr id="3" name="Text 1"/>
          <p:cNvSpPr/>
          <p:nvPr/>
        </p:nvSpPr>
        <p:spPr>
          <a:xfrm>
            <a:off x="502920" y="1115568"/>
            <a:ext cx="11155680" cy="384048"/>
          </a:xfrm>
          <a:prstGeom prst="rect">
            <a:avLst/>
          </a:prstGeom>
          <a:noFill/>
          <a:ln/>
        </p:spPr>
        <p:txBody>
          <a:bodyPr wrap="square" lIns="0" tIns="0" rIns="0" bIns="0" rtlCol="0" anchor="ctr"/>
          <a:lstStyle/>
          <a:p>
            <a:pPr indent="0" marL="0">
              <a:buNone/>
            </a:pPr>
            <a:r>
              <a:rPr lang="en-US" sz="1500" dirty="0">
                <a:solidFill>
                  <a:srgbClr val="5A6B7B"/>
                </a:solidFill>
                <a:latin typeface="Calibri" pitchFamily="34" charset="0"/>
                <a:ea typeface="Calibri" pitchFamily="34" charset="-122"/>
                <a:cs typeface="Calibri" pitchFamily="34" charset="-120"/>
              </a:rPr>
              <a:t>A dynamic virtual replica of the patient, continuously updated with real data</a:t>
            </a:r>
            <a:endParaRPr lang="en-US" sz="1500" dirty="0"/>
          </a:p>
        </p:txBody>
      </p:sp>
      <p:sp>
        <p:nvSpPr>
          <p:cNvPr id="4" name="Shape 2"/>
          <p:cNvSpPr/>
          <p:nvPr/>
        </p:nvSpPr>
        <p:spPr>
          <a:xfrm>
            <a:off x="502920" y="1737360"/>
            <a:ext cx="5120640" cy="1965960"/>
          </a:xfrm>
          <a:prstGeom prst="roundRect">
            <a:avLst>
              <a:gd name="adj" fmla="val 4186"/>
            </a:avLst>
          </a:prstGeom>
          <a:solidFill>
            <a:srgbClr val="F4F7FA"/>
          </a:solidFill>
          <a:ln w="12700">
            <a:solidFill>
              <a:srgbClr val="DDE4EA"/>
            </a:solidFill>
            <a:prstDash val="solid"/>
          </a:ln>
        </p:spPr>
      </p:sp>
      <p:sp>
        <p:nvSpPr>
          <p:cNvPr id="5" name="Text 3"/>
          <p:cNvSpPr/>
          <p:nvPr/>
        </p:nvSpPr>
        <p:spPr>
          <a:xfrm>
            <a:off x="777240" y="1901952"/>
            <a:ext cx="4572000" cy="310896"/>
          </a:xfrm>
          <a:prstGeom prst="rect">
            <a:avLst/>
          </a:prstGeom>
          <a:noFill/>
          <a:ln/>
        </p:spPr>
        <p:txBody>
          <a:bodyPr wrap="square" lIns="0" tIns="0" rIns="0" bIns="0" rtlCol="0" anchor="ctr"/>
          <a:lstStyle/>
          <a:p>
            <a:pPr indent="0" marL="0">
              <a:buNone/>
            </a:pPr>
            <a:r>
              <a:rPr lang="en-US" sz="1600" b="1" dirty="0">
                <a:solidFill>
                  <a:srgbClr val="2A78D6"/>
                </a:solidFill>
                <a:latin typeface="Calibri" pitchFamily="34" charset="0"/>
                <a:ea typeface="Calibri" pitchFamily="34" charset="-122"/>
                <a:cs typeface="Calibri" pitchFamily="34" charset="-120"/>
              </a:rPr>
              <a:t>The promise</a:t>
            </a:r>
            <a:endParaRPr lang="en-US" sz="1600" dirty="0"/>
          </a:p>
        </p:txBody>
      </p:sp>
      <p:sp>
        <p:nvSpPr>
          <p:cNvPr id="6" name="Text 4"/>
          <p:cNvSpPr/>
          <p:nvPr/>
        </p:nvSpPr>
        <p:spPr>
          <a:xfrm>
            <a:off x="822960" y="2286000"/>
            <a:ext cx="4663440" cy="128016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0F1E2E"/>
                </a:solidFill>
                <a:latin typeface="Calibri" pitchFamily="34" charset="0"/>
                <a:ea typeface="Calibri" pitchFamily="34" charset="-122"/>
                <a:cs typeface="Calibri" pitchFamily="34" charset="-120"/>
              </a:rPr>
              <a:t>HbA1c reductions of 1.8 to 2.9 points</a:t>
            </a:r>
            <a:endParaRPr lang="en-US" sz="1250" dirty="0"/>
          </a:p>
          <a:p>
            <a:pPr marL="342900" indent="-342900">
              <a:spcAft>
                <a:spcPts val="600"/>
              </a:spcAft>
              <a:buSzPct val="100000"/>
              <a:buChar char="•"/>
            </a:pPr>
            <a:r>
              <a:rPr lang="en-US" sz="1250" dirty="0">
                <a:solidFill>
                  <a:srgbClr val="0F1E2E"/>
                </a:solidFill>
                <a:latin typeface="Calibri" pitchFamily="34" charset="0"/>
                <a:ea typeface="Calibri" pitchFamily="34" charset="-122"/>
                <a:cs typeface="Calibri" pitchFamily="34" charset="-120"/>
              </a:rPr>
              <a:t>Type 2 remission rates of 60 to 76 %</a:t>
            </a:r>
            <a:endParaRPr lang="en-US" sz="1250" dirty="0"/>
          </a:p>
          <a:p>
            <a:pPr marL="342900" indent="-342900">
              <a:spcAft>
                <a:spcPts val="600"/>
              </a:spcAft>
              <a:buSzPct val="100000"/>
              <a:buChar char="•"/>
            </a:pPr>
            <a:r>
              <a:rPr lang="en-US" sz="1250" dirty="0">
                <a:solidFill>
                  <a:srgbClr val="0F1E2E"/>
                </a:solidFill>
                <a:latin typeface="Calibri" pitchFamily="34" charset="0"/>
                <a:ea typeface="Calibri" pitchFamily="34" charset="-122"/>
                <a:cs typeface="Calibri" pitchFamily="34" charset="-120"/>
              </a:rPr>
              <a:t>Medication reduced in ~74 % of patients</a:t>
            </a:r>
            <a:endParaRPr lang="en-US" sz="1250" dirty="0"/>
          </a:p>
        </p:txBody>
      </p:sp>
      <p:sp>
        <p:nvSpPr>
          <p:cNvPr id="7" name="Shape 5"/>
          <p:cNvSpPr/>
          <p:nvPr/>
        </p:nvSpPr>
        <p:spPr>
          <a:xfrm>
            <a:off x="5852160" y="1737360"/>
            <a:ext cx="5806440" cy="1965960"/>
          </a:xfrm>
          <a:prstGeom prst="roundRect">
            <a:avLst>
              <a:gd name="adj" fmla="val 4186"/>
            </a:avLst>
          </a:prstGeom>
          <a:solidFill>
            <a:srgbClr val="FDF0EA"/>
          </a:solidFill>
          <a:ln w="12700">
            <a:solidFill>
              <a:srgbClr val="DDE4EA"/>
            </a:solidFill>
            <a:prstDash val="solid"/>
          </a:ln>
        </p:spPr>
      </p:sp>
      <p:sp>
        <p:nvSpPr>
          <p:cNvPr id="8" name="Text 6"/>
          <p:cNvSpPr/>
          <p:nvPr/>
        </p:nvSpPr>
        <p:spPr>
          <a:xfrm>
            <a:off x="6126480" y="1901952"/>
            <a:ext cx="5303520" cy="310896"/>
          </a:xfrm>
          <a:prstGeom prst="rect">
            <a:avLst/>
          </a:prstGeom>
          <a:noFill/>
          <a:ln/>
        </p:spPr>
        <p:txBody>
          <a:bodyPr wrap="square" lIns="0" tIns="0" rIns="0" bIns="0" rtlCol="0" anchor="ctr"/>
          <a:lstStyle/>
          <a:p>
            <a:pPr indent="0" marL="0">
              <a:buNone/>
            </a:pPr>
            <a:r>
              <a:rPr lang="en-US" sz="1600" b="1" dirty="0">
                <a:solidFill>
                  <a:srgbClr val="EB6834"/>
                </a:solidFill>
                <a:latin typeface="Calibri" pitchFamily="34" charset="0"/>
                <a:ea typeface="Calibri" pitchFamily="34" charset="-122"/>
                <a:cs typeface="Calibri" pitchFamily="34" charset="-120"/>
              </a:rPr>
              <a:t>The gap we found</a:t>
            </a:r>
            <a:endParaRPr lang="en-US" sz="1600" dirty="0"/>
          </a:p>
        </p:txBody>
      </p:sp>
      <p:sp>
        <p:nvSpPr>
          <p:cNvPr id="9" name="Text 7"/>
          <p:cNvSpPr/>
          <p:nvPr/>
        </p:nvSpPr>
        <p:spPr>
          <a:xfrm>
            <a:off x="6126480" y="2286000"/>
            <a:ext cx="5303520" cy="1280160"/>
          </a:xfrm>
          <a:prstGeom prst="rect">
            <a:avLst/>
          </a:prstGeom>
          <a:noFill/>
          <a:ln/>
        </p:spPr>
        <p:txBody>
          <a:bodyPr wrap="square" lIns="0" tIns="0" rIns="0" bIns="0" rtlCol="0" anchor="ctr"/>
          <a:lstStyle/>
          <a:p>
            <a:pPr indent="0" marL="0">
              <a:lnSpc>
                <a:spcPts val="1700"/>
              </a:lnSpc>
              <a:buNone/>
            </a:pPr>
            <a:r>
              <a:rPr lang="en-US" sz="1250" dirty="0">
                <a:solidFill>
                  <a:srgbClr val="0F1E2E"/>
                </a:solidFill>
                <a:latin typeface="Calibri" pitchFamily="34" charset="0"/>
                <a:ea typeface="Calibri" pitchFamily="34" charset="-122"/>
                <a:cs typeface="Calibri" pitchFamily="34" charset="-120"/>
              </a:rPr>
              <a:t>Four requirements matter — accuracy, interpretability, fairness, validability. Reviewing the literature, we found work on each one separately, but no diabetes twin that addresses all four together.</a:t>
            </a:r>
            <a:endParaRPr lang="en-US" sz="1250" dirty="0"/>
          </a:p>
        </p:txBody>
      </p:sp>
      <p:sp>
        <p:nvSpPr>
          <p:cNvPr id="10" name="Text 8"/>
          <p:cNvSpPr/>
          <p:nvPr/>
        </p:nvSpPr>
        <p:spPr>
          <a:xfrm>
            <a:off x="502920" y="3886200"/>
            <a:ext cx="5486400" cy="274320"/>
          </a:xfrm>
          <a:prstGeom prst="rect">
            <a:avLst/>
          </a:prstGeom>
          <a:noFill/>
          <a:ln/>
        </p:spPr>
        <p:txBody>
          <a:bodyPr wrap="square" lIns="0" tIns="0" rIns="0" bIns="0" rtlCol="0" anchor="ctr"/>
          <a:lstStyle/>
          <a:p>
            <a:pPr indent="0" marL="0">
              <a:buNone/>
            </a:pPr>
            <a:r>
              <a:rPr lang="en-US" sz="1300" b="1" dirty="0">
                <a:solidFill>
                  <a:srgbClr val="0F1E2E"/>
                </a:solidFill>
                <a:latin typeface="Calibri" pitchFamily="34" charset="0"/>
                <a:ea typeface="Calibri" pitchFamily="34" charset="-122"/>
                <a:cs typeface="Calibri" pitchFamily="34" charset="-120"/>
              </a:rPr>
              <a:t>No published work covers all four columns</a:t>
            </a:r>
            <a:endParaRPr lang="en-US" sz="1300" dirty="0"/>
          </a:p>
        </p:txBody>
      </p:sp>
      <p:sp>
        <p:nvSpPr>
          <p:cNvPr id="11" name="Text 9"/>
          <p:cNvSpPr/>
          <p:nvPr/>
        </p:nvSpPr>
        <p:spPr>
          <a:xfrm>
            <a:off x="3703320" y="4251960"/>
            <a:ext cx="1371600" cy="274320"/>
          </a:xfrm>
          <a:prstGeom prst="rect">
            <a:avLst/>
          </a:prstGeom>
          <a:noFill/>
          <a:ln/>
        </p:spPr>
        <p:txBody>
          <a:bodyPr wrap="square" lIns="0" tIns="0" rIns="0" bIns="0" rtlCol="0" anchor="ctr"/>
          <a:lstStyle/>
          <a:p>
            <a:pPr algn="ctr" indent="0" marL="0">
              <a:buNone/>
            </a:pPr>
            <a:r>
              <a:rPr lang="en-US" sz="1050" b="1" dirty="0">
                <a:solidFill>
                  <a:srgbClr val="5A6B7B"/>
                </a:solidFill>
                <a:latin typeface="Calibri" pitchFamily="34" charset="0"/>
                <a:ea typeface="Calibri" pitchFamily="34" charset="-122"/>
                <a:cs typeface="Calibri" pitchFamily="34" charset="-120"/>
              </a:rPr>
              <a:t>Accuracy</a:t>
            </a:r>
            <a:endParaRPr lang="en-US" sz="1050" dirty="0"/>
          </a:p>
        </p:txBody>
      </p:sp>
      <p:sp>
        <p:nvSpPr>
          <p:cNvPr id="12" name="Text 10"/>
          <p:cNvSpPr/>
          <p:nvPr/>
        </p:nvSpPr>
        <p:spPr>
          <a:xfrm>
            <a:off x="5074920" y="4251960"/>
            <a:ext cx="1920240" cy="274320"/>
          </a:xfrm>
          <a:prstGeom prst="rect">
            <a:avLst/>
          </a:prstGeom>
          <a:noFill/>
          <a:ln/>
        </p:spPr>
        <p:txBody>
          <a:bodyPr wrap="square" lIns="0" tIns="0" rIns="0" bIns="0" rtlCol="0" anchor="ctr"/>
          <a:lstStyle/>
          <a:p>
            <a:pPr algn="ctr" indent="0" marL="0">
              <a:buNone/>
            </a:pPr>
            <a:r>
              <a:rPr lang="en-US" sz="1050" b="1" dirty="0">
                <a:solidFill>
                  <a:srgbClr val="5A6B7B"/>
                </a:solidFill>
                <a:latin typeface="Calibri" pitchFamily="34" charset="0"/>
                <a:ea typeface="Calibri" pitchFamily="34" charset="-122"/>
                <a:cs typeface="Calibri" pitchFamily="34" charset="-120"/>
              </a:rPr>
              <a:t>Interpretability</a:t>
            </a:r>
            <a:endParaRPr lang="en-US" sz="1050" dirty="0"/>
          </a:p>
        </p:txBody>
      </p:sp>
      <p:sp>
        <p:nvSpPr>
          <p:cNvPr id="13" name="Text 11"/>
          <p:cNvSpPr/>
          <p:nvPr/>
        </p:nvSpPr>
        <p:spPr>
          <a:xfrm>
            <a:off x="6995160" y="4251960"/>
            <a:ext cx="1280160" cy="274320"/>
          </a:xfrm>
          <a:prstGeom prst="rect">
            <a:avLst/>
          </a:prstGeom>
          <a:noFill/>
          <a:ln/>
        </p:spPr>
        <p:txBody>
          <a:bodyPr wrap="square" lIns="0" tIns="0" rIns="0" bIns="0" rtlCol="0" anchor="ctr"/>
          <a:lstStyle/>
          <a:p>
            <a:pPr algn="ctr" indent="0" marL="0">
              <a:buNone/>
            </a:pPr>
            <a:r>
              <a:rPr lang="en-US" sz="1050" b="1" dirty="0">
                <a:solidFill>
                  <a:srgbClr val="5A6B7B"/>
                </a:solidFill>
                <a:latin typeface="Calibri" pitchFamily="34" charset="0"/>
                <a:ea typeface="Calibri" pitchFamily="34" charset="-122"/>
                <a:cs typeface="Calibri" pitchFamily="34" charset="-120"/>
              </a:rPr>
              <a:t>Fairness</a:t>
            </a:r>
            <a:endParaRPr lang="en-US" sz="1050" dirty="0"/>
          </a:p>
        </p:txBody>
      </p:sp>
      <p:sp>
        <p:nvSpPr>
          <p:cNvPr id="14" name="Text 12"/>
          <p:cNvSpPr/>
          <p:nvPr/>
        </p:nvSpPr>
        <p:spPr>
          <a:xfrm>
            <a:off x="8275320" y="4251960"/>
            <a:ext cx="1463040" cy="274320"/>
          </a:xfrm>
          <a:prstGeom prst="rect">
            <a:avLst/>
          </a:prstGeom>
          <a:noFill/>
          <a:ln/>
        </p:spPr>
        <p:txBody>
          <a:bodyPr wrap="square" lIns="0" tIns="0" rIns="0" bIns="0" rtlCol="0" anchor="ctr"/>
          <a:lstStyle/>
          <a:p>
            <a:pPr algn="ctr" indent="0" marL="0">
              <a:buNone/>
            </a:pPr>
            <a:r>
              <a:rPr lang="en-US" sz="1050" b="1" dirty="0">
                <a:solidFill>
                  <a:srgbClr val="5A6B7B"/>
                </a:solidFill>
                <a:latin typeface="Calibri" pitchFamily="34" charset="0"/>
                <a:ea typeface="Calibri" pitchFamily="34" charset="-122"/>
                <a:cs typeface="Calibri" pitchFamily="34" charset="-120"/>
              </a:rPr>
              <a:t>Validability</a:t>
            </a:r>
            <a:endParaRPr lang="en-US" sz="1050" dirty="0"/>
          </a:p>
        </p:txBody>
      </p:sp>
      <p:sp>
        <p:nvSpPr>
          <p:cNvPr id="15" name="Text 13"/>
          <p:cNvSpPr/>
          <p:nvPr/>
        </p:nvSpPr>
        <p:spPr>
          <a:xfrm>
            <a:off x="502920" y="4581144"/>
            <a:ext cx="3200400" cy="292608"/>
          </a:xfrm>
          <a:prstGeom prst="rect">
            <a:avLst/>
          </a:prstGeom>
          <a:noFill/>
          <a:ln/>
        </p:spPr>
        <p:txBody>
          <a:bodyPr wrap="square" lIns="0" tIns="0" rIns="0" bIns="0" rtlCol="0" anchor="ctr"/>
          <a:lstStyle/>
          <a:p>
            <a:pPr indent="0" marL="0">
              <a:buNone/>
            </a:pPr>
            <a:r>
              <a:rPr lang="en-US" sz="1100" dirty="0">
                <a:solidFill>
                  <a:srgbClr val="0F1E2E"/>
                </a:solidFill>
                <a:latin typeface="Calibri" pitchFamily="34" charset="0"/>
                <a:ea typeface="Calibri" pitchFamily="34" charset="-122"/>
                <a:cs typeface="Calibri" pitchFamily="34" charset="-120"/>
              </a:rPr>
              <a:t>Transformer + LSTM (2025)</a:t>
            </a:r>
            <a:endParaRPr lang="en-US" sz="1100" dirty="0"/>
          </a:p>
        </p:txBody>
      </p:sp>
      <p:sp>
        <p:nvSpPr>
          <p:cNvPr id="16" name="Shape 14"/>
          <p:cNvSpPr/>
          <p:nvPr/>
        </p:nvSpPr>
        <p:spPr>
          <a:xfrm>
            <a:off x="4005072" y="4636008"/>
            <a:ext cx="768096" cy="182880"/>
          </a:xfrm>
          <a:prstGeom prst="roundRect">
            <a:avLst>
              <a:gd name="adj" fmla="val 25000"/>
            </a:avLst>
          </a:prstGeom>
          <a:solidFill>
            <a:srgbClr val="1BAF7A"/>
          </a:solidFill>
          <a:ln/>
        </p:spPr>
      </p:sp>
      <p:sp>
        <p:nvSpPr>
          <p:cNvPr id="17" name="Shape 15"/>
          <p:cNvSpPr/>
          <p:nvPr/>
        </p:nvSpPr>
        <p:spPr>
          <a:xfrm>
            <a:off x="5650992" y="4636008"/>
            <a:ext cx="768096" cy="182880"/>
          </a:xfrm>
          <a:prstGeom prst="roundRect">
            <a:avLst>
              <a:gd name="adj" fmla="val 25000"/>
            </a:avLst>
          </a:prstGeom>
          <a:solidFill>
            <a:srgbClr val="EDF1F5"/>
          </a:solidFill>
          <a:ln/>
        </p:spPr>
      </p:sp>
      <p:sp>
        <p:nvSpPr>
          <p:cNvPr id="18" name="Shape 16"/>
          <p:cNvSpPr/>
          <p:nvPr/>
        </p:nvSpPr>
        <p:spPr>
          <a:xfrm>
            <a:off x="7251192" y="4636008"/>
            <a:ext cx="768096" cy="182880"/>
          </a:xfrm>
          <a:prstGeom prst="roundRect">
            <a:avLst>
              <a:gd name="adj" fmla="val 25000"/>
            </a:avLst>
          </a:prstGeom>
          <a:solidFill>
            <a:srgbClr val="EDF1F5"/>
          </a:solidFill>
          <a:ln/>
        </p:spPr>
      </p:sp>
      <p:sp>
        <p:nvSpPr>
          <p:cNvPr id="19" name="Shape 17"/>
          <p:cNvSpPr/>
          <p:nvPr/>
        </p:nvSpPr>
        <p:spPr>
          <a:xfrm>
            <a:off x="8622792" y="4636008"/>
            <a:ext cx="768096" cy="182880"/>
          </a:xfrm>
          <a:prstGeom prst="roundRect">
            <a:avLst>
              <a:gd name="adj" fmla="val 25000"/>
            </a:avLst>
          </a:prstGeom>
          <a:solidFill>
            <a:srgbClr val="C6D2DC"/>
          </a:solidFill>
          <a:ln/>
        </p:spPr>
      </p:sp>
      <p:sp>
        <p:nvSpPr>
          <p:cNvPr id="20" name="Text 18"/>
          <p:cNvSpPr/>
          <p:nvPr/>
        </p:nvSpPr>
        <p:spPr>
          <a:xfrm>
            <a:off x="502920" y="4910328"/>
            <a:ext cx="3200400" cy="292608"/>
          </a:xfrm>
          <a:prstGeom prst="rect">
            <a:avLst/>
          </a:prstGeom>
          <a:noFill/>
          <a:ln/>
        </p:spPr>
        <p:txBody>
          <a:bodyPr wrap="square" lIns="0" tIns="0" rIns="0" bIns="0" rtlCol="0" anchor="ctr"/>
          <a:lstStyle/>
          <a:p>
            <a:pPr indent="0" marL="0">
              <a:buNone/>
            </a:pPr>
            <a:r>
              <a:rPr lang="en-US" sz="1100" dirty="0">
                <a:solidFill>
                  <a:srgbClr val="0F1E2E"/>
                </a:solidFill>
                <a:latin typeface="Calibri" pitchFamily="34" charset="0"/>
                <a:ea typeface="Calibri" pitchFamily="34" charset="-122"/>
                <a:cs typeface="Calibri" pitchFamily="34" charset="-120"/>
              </a:rPr>
              <a:t>Twin Health RCT (2022-24)</a:t>
            </a:r>
            <a:endParaRPr lang="en-US" sz="1100" dirty="0"/>
          </a:p>
        </p:txBody>
      </p:sp>
      <p:sp>
        <p:nvSpPr>
          <p:cNvPr id="21" name="Shape 19"/>
          <p:cNvSpPr/>
          <p:nvPr/>
        </p:nvSpPr>
        <p:spPr>
          <a:xfrm>
            <a:off x="4005072" y="4965192"/>
            <a:ext cx="768096" cy="182880"/>
          </a:xfrm>
          <a:prstGeom prst="roundRect">
            <a:avLst>
              <a:gd name="adj" fmla="val 25000"/>
            </a:avLst>
          </a:prstGeom>
          <a:solidFill>
            <a:srgbClr val="1BAF7A"/>
          </a:solidFill>
          <a:ln/>
        </p:spPr>
      </p:sp>
      <p:sp>
        <p:nvSpPr>
          <p:cNvPr id="22" name="Shape 20"/>
          <p:cNvSpPr/>
          <p:nvPr/>
        </p:nvSpPr>
        <p:spPr>
          <a:xfrm>
            <a:off x="5650992" y="4965192"/>
            <a:ext cx="768096" cy="182880"/>
          </a:xfrm>
          <a:prstGeom prst="roundRect">
            <a:avLst>
              <a:gd name="adj" fmla="val 25000"/>
            </a:avLst>
          </a:prstGeom>
          <a:solidFill>
            <a:srgbClr val="EDF1F5"/>
          </a:solidFill>
          <a:ln/>
        </p:spPr>
      </p:sp>
      <p:sp>
        <p:nvSpPr>
          <p:cNvPr id="23" name="Shape 21"/>
          <p:cNvSpPr/>
          <p:nvPr/>
        </p:nvSpPr>
        <p:spPr>
          <a:xfrm>
            <a:off x="7251192" y="4965192"/>
            <a:ext cx="768096" cy="182880"/>
          </a:xfrm>
          <a:prstGeom prst="roundRect">
            <a:avLst>
              <a:gd name="adj" fmla="val 25000"/>
            </a:avLst>
          </a:prstGeom>
          <a:solidFill>
            <a:srgbClr val="EDF1F5"/>
          </a:solidFill>
          <a:ln/>
        </p:spPr>
      </p:sp>
      <p:sp>
        <p:nvSpPr>
          <p:cNvPr id="24" name="Shape 22"/>
          <p:cNvSpPr/>
          <p:nvPr/>
        </p:nvSpPr>
        <p:spPr>
          <a:xfrm>
            <a:off x="8622792" y="4965192"/>
            <a:ext cx="768096" cy="182880"/>
          </a:xfrm>
          <a:prstGeom prst="roundRect">
            <a:avLst>
              <a:gd name="adj" fmla="val 25000"/>
            </a:avLst>
          </a:prstGeom>
          <a:solidFill>
            <a:srgbClr val="2A78D6"/>
          </a:solidFill>
          <a:ln/>
        </p:spPr>
      </p:sp>
      <p:sp>
        <p:nvSpPr>
          <p:cNvPr id="25" name="Text 23"/>
          <p:cNvSpPr/>
          <p:nvPr/>
        </p:nvSpPr>
        <p:spPr>
          <a:xfrm>
            <a:off x="502920" y="5239512"/>
            <a:ext cx="3200400" cy="292608"/>
          </a:xfrm>
          <a:prstGeom prst="rect">
            <a:avLst/>
          </a:prstGeom>
          <a:noFill/>
          <a:ln/>
        </p:spPr>
        <p:txBody>
          <a:bodyPr wrap="square" lIns="0" tIns="0" rIns="0" bIns="0" rtlCol="0" anchor="ctr"/>
          <a:lstStyle/>
          <a:p>
            <a:pPr indent="0" marL="0">
              <a:buNone/>
            </a:pPr>
            <a:r>
              <a:rPr lang="en-US" sz="1100" dirty="0">
                <a:solidFill>
                  <a:srgbClr val="0F1E2E"/>
                </a:solidFill>
                <a:latin typeface="Calibri" pitchFamily="34" charset="0"/>
                <a:ea typeface="Calibri" pitchFamily="34" charset="-122"/>
                <a:cs typeface="Calibri" pitchFamily="34" charset="-120"/>
              </a:rPr>
              <a:t>SHAP glucose studies (2025)</a:t>
            </a:r>
            <a:endParaRPr lang="en-US" sz="1100" dirty="0"/>
          </a:p>
        </p:txBody>
      </p:sp>
      <p:sp>
        <p:nvSpPr>
          <p:cNvPr id="26" name="Shape 24"/>
          <p:cNvSpPr/>
          <p:nvPr/>
        </p:nvSpPr>
        <p:spPr>
          <a:xfrm>
            <a:off x="4005072" y="5294376"/>
            <a:ext cx="768096" cy="182880"/>
          </a:xfrm>
          <a:prstGeom prst="roundRect">
            <a:avLst>
              <a:gd name="adj" fmla="val 25000"/>
            </a:avLst>
          </a:prstGeom>
          <a:solidFill>
            <a:srgbClr val="1BAF7A"/>
          </a:solidFill>
          <a:ln/>
        </p:spPr>
      </p:sp>
      <p:sp>
        <p:nvSpPr>
          <p:cNvPr id="27" name="Shape 25"/>
          <p:cNvSpPr/>
          <p:nvPr/>
        </p:nvSpPr>
        <p:spPr>
          <a:xfrm>
            <a:off x="5650992" y="5294376"/>
            <a:ext cx="768096" cy="182880"/>
          </a:xfrm>
          <a:prstGeom prst="roundRect">
            <a:avLst>
              <a:gd name="adj" fmla="val 25000"/>
            </a:avLst>
          </a:prstGeom>
          <a:solidFill>
            <a:srgbClr val="2A78D6"/>
          </a:solidFill>
          <a:ln/>
        </p:spPr>
      </p:sp>
      <p:sp>
        <p:nvSpPr>
          <p:cNvPr id="28" name="Shape 26"/>
          <p:cNvSpPr/>
          <p:nvPr/>
        </p:nvSpPr>
        <p:spPr>
          <a:xfrm>
            <a:off x="7251192" y="5294376"/>
            <a:ext cx="768096" cy="182880"/>
          </a:xfrm>
          <a:prstGeom prst="roundRect">
            <a:avLst>
              <a:gd name="adj" fmla="val 25000"/>
            </a:avLst>
          </a:prstGeom>
          <a:solidFill>
            <a:srgbClr val="EDF1F5"/>
          </a:solidFill>
          <a:ln/>
        </p:spPr>
      </p:sp>
      <p:sp>
        <p:nvSpPr>
          <p:cNvPr id="29" name="Shape 27"/>
          <p:cNvSpPr/>
          <p:nvPr/>
        </p:nvSpPr>
        <p:spPr>
          <a:xfrm>
            <a:off x="8622792" y="5294376"/>
            <a:ext cx="768096" cy="182880"/>
          </a:xfrm>
          <a:prstGeom prst="roundRect">
            <a:avLst>
              <a:gd name="adj" fmla="val 25000"/>
            </a:avLst>
          </a:prstGeom>
          <a:solidFill>
            <a:srgbClr val="EDF1F5"/>
          </a:solidFill>
          <a:ln/>
        </p:spPr>
      </p:sp>
      <p:sp>
        <p:nvSpPr>
          <p:cNvPr id="30" name="Text 28"/>
          <p:cNvSpPr/>
          <p:nvPr/>
        </p:nvSpPr>
        <p:spPr>
          <a:xfrm>
            <a:off x="502920" y="5568696"/>
            <a:ext cx="3200400" cy="292608"/>
          </a:xfrm>
          <a:prstGeom prst="rect">
            <a:avLst/>
          </a:prstGeom>
          <a:noFill/>
          <a:ln/>
        </p:spPr>
        <p:txBody>
          <a:bodyPr wrap="square" lIns="0" tIns="0" rIns="0" bIns="0" rtlCol="0" anchor="ctr"/>
          <a:lstStyle/>
          <a:p>
            <a:pPr indent="0" marL="0">
              <a:buNone/>
            </a:pPr>
            <a:r>
              <a:rPr lang="en-US" sz="1100" dirty="0">
                <a:solidFill>
                  <a:srgbClr val="0F1E2E"/>
                </a:solidFill>
                <a:latin typeface="Calibri" pitchFamily="34" charset="0"/>
                <a:ea typeface="Calibri" pitchFamily="34" charset="-122"/>
                <a:cs typeface="Calibri" pitchFamily="34" charset="-120"/>
              </a:rPr>
              <a:t>Adversarial debiasing (2026)</a:t>
            </a:r>
            <a:endParaRPr lang="en-US" sz="1100" dirty="0"/>
          </a:p>
        </p:txBody>
      </p:sp>
      <p:sp>
        <p:nvSpPr>
          <p:cNvPr id="31" name="Shape 29"/>
          <p:cNvSpPr/>
          <p:nvPr/>
        </p:nvSpPr>
        <p:spPr>
          <a:xfrm>
            <a:off x="4005072" y="5623560"/>
            <a:ext cx="768096" cy="182880"/>
          </a:xfrm>
          <a:prstGeom prst="roundRect">
            <a:avLst>
              <a:gd name="adj" fmla="val 25000"/>
            </a:avLst>
          </a:prstGeom>
          <a:solidFill>
            <a:srgbClr val="2A78D6"/>
          </a:solidFill>
          <a:ln/>
        </p:spPr>
      </p:sp>
      <p:sp>
        <p:nvSpPr>
          <p:cNvPr id="32" name="Shape 30"/>
          <p:cNvSpPr/>
          <p:nvPr/>
        </p:nvSpPr>
        <p:spPr>
          <a:xfrm>
            <a:off x="5650992" y="5623560"/>
            <a:ext cx="768096" cy="182880"/>
          </a:xfrm>
          <a:prstGeom prst="roundRect">
            <a:avLst>
              <a:gd name="adj" fmla="val 25000"/>
            </a:avLst>
          </a:prstGeom>
          <a:solidFill>
            <a:srgbClr val="EDF1F5"/>
          </a:solidFill>
          <a:ln/>
        </p:spPr>
      </p:sp>
      <p:sp>
        <p:nvSpPr>
          <p:cNvPr id="33" name="Shape 31"/>
          <p:cNvSpPr/>
          <p:nvPr/>
        </p:nvSpPr>
        <p:spPr>
          <a:xfrm>
            <a:off x="7251192" y="5623560"/>
            <a:ext cx="768096" cy="182880"/>
          </a:xfrm>
          <a:prstGeom prst="roundRect">
            <a:avLst>
              <a:gd name="adj" fmla="val 25000"/>
            </a:avLst>
          </a:prstGeom>
          <a:solidFill>
            <a:srgbClr val="2A78D6"/>
          </a:solidFill>
          <a:ln/>
        </p:spPr>
      </p:sp>
      <p:sp>
        <p:nvSpPr>
          <p:cNvPr id="34" name="Shape 32"/>
          <p:cNvSpPr/>
          <p:nvPr/>
        </p:nvSpPr>
        <p:spPr>
          <a:xfrm>
            <a:off x="8622792" y="5623560"/>
            <a:ext cx="768096" cy="182880"/>
          </a:xfrm>
          <a:prstGeom prst="roundRect">
            <a:avLst>
              <a:gd name="adj" fmla="val 25000"/>
            </a:avLst>
          </a:prstGeom>
          <a:solidFill>
            <a:srgbClr val="C6D2DC"/>
          </a:solidFill>
          <a:ln/>
        </p:spPr>
      </p:sp>
      <p:sp>
        <p:nvSpPr>
          <p:cNvPr id="35" name="Text 33"/>
          <p:cNvSpPr/>
          <p:nvPr/>
        </p:nvSpPr>
        <p:spPr>
          <a:xfrm>
            <a:off x="502920" y="5897880"/>
            <a:ext cx="3200400" cy="292608"/>
          </a:xfrm>
          <a:prstGeom prst="rect">
            <a:avLst/>
          </a:prstGeom>
          <a:noFill/>
          <a:ln/>
        </p:spPr>
        <p:txBody>
          <a:bodyPr wrap="square" lIns="0" tIns="0" rIns="0" bIns="0" rtlCol="0" anchor="ctr"/>
          <a:lstStyle/>
          <a:p>
            <a:pPr indent="0" marL="0">
              <a:buNone/>
            </a:pPr>
            <a:r>
              <a:rPr lang="en-US" sz="1100" dirty="0">
                <a:solidFill>
                  <a:srgbClr val="0F1E2E"/>
                </a:solidFill>
                <a:latin typeface="Calibri" pitchFamily="34" charset="0"/>
                <a:ea typeface="Calibri" pitchFamily="34" charset="-122"/>
                <a:cs typeface="Calibri" pitchFamily="34" charset="-120"/>
              </a:rPr>
              <a:t>VVUQ frameworks (2025)</a:t>
            </a:r>
            <a:endParaRPr lang="en-US" sz="1100" dirty="0"/>
          </a:p>
        </p:txBody>
      </p:sp>
      <p:sp>
        <p:nvSpPr>
          <p:cNvPr id="36" name="Shape 34"/>
          <p:cNvSpPr/>
          <p:nvPr/>
        </p:nvSpPr>
        <p:spPr>
          <a:xfrm>
            <a:off x="4005072" y="5952744"/>
            <a:ext cx="768096" cy="182880"/>
          </a:xfrm>
          <a:prstGeom prst="roundRect">
            <a:avLst>
              <a:gd name="adj" fmla="val 25000"/>
            </a:avLst>
          </a:prstGeom>
          <a:solidFill>
            <a:srgbClr val="EDF1F5"/>
          </a:solidFill>
          <a:ln/>
        </p:spPr>
      </p:sp>
      <p:sp>
        <p:nvSpPr>
          <p:cNvPr id="37" name="Shape 35"/>
          <p:cNvSpPr/>
          <p:nvPr/>
        </p:nvSpPr>
        <p:spPr>
          <a:xfrm>
            <a:off x="5650992" y="5952744"/>
            <a:ext cx="768096" cy="182880"/>
          </a:xfrm>
          <a:prstGeom prst="roundRect">
            <a:avLst>
              <a:gd name="adj" fmla="val 25000"/>
            </a:avLst>
          </a:prstGeom>
          <a:solidFill>
            <a:srgbClr val="C6D2DC"/>
          </a:solidFill>
          <a:ln/>
        </p:spPr>
      </p:sp>
      <p:sp>
        <p:nvSpPr>
          <p:cNvPr id="38" name="Shape 36"/>
          <p:cNvSpPr/>
          <p:nvPr/>
        </p:nvSpPr>
        <p:spPr>
          <a:xfrm>
            <a:off x="7251192" y="5952744"/>
            <a:ext cx="768096" cy="182880"/>
          </a:xfrm>
          <a:prstGeom prst="roundRect">
            <a:avLst>
              <a:gd name="adj" fmla="val 25000"/>
            </a:avLst>
          </a:prstGeom>
          <a:solidFill>
            <a:srgbClr val="EDF1F5"/>
          </a:solidFill>
          <a:ln/>
        </p:spPr>
      </p:sp>
      <p:sp>
        <p:nvSpPr>
          <p:cNvPr id="39" name="Shape 37"/>
          <p:cNvSpPr/>
          <p:nvPr/>
        </p:nvSpPr>
        <p:spPr>
          <a:xfrm>
            <a:off x="8622792" y="5952744"/>
            <a:ext cx="768096" cy="182880"/>
          </a:xfrm>
          <a:prstGeom prst="roundRect">
            <a:avLst>
              <a:gd name="adj" fmla="val 25000"/>
            </a:avLst>
          </a:prstGeom>
          <a:solidFill>
            <a:srgbClr val="1BAF7A"/>
          </a:solidFill>
          <a:ln/>
        </p:spPr>
      </p:sp>
      <p:sp>
        <p:nvSpPr>
          <p:cNvPr id="40" name="Shape 38"/>
          <p:cNvSpPr/>
          <p:nvPr/>
        </p:nvSpPr>
        <p:spPr>
          <a:xfrm>
            <a:off x="7452360" y="3922776"/>
            <a:ext cx="365760" cy="164592"/>
          </a:xfrm>
          <a:prstGeom prst="roundRect">
            <a:avLst>
              <a:gd name="adj" fmla="val 22222"/>
            </a:avLst>
          </a:prstGeom>
          <a:solidFill>
            <a:srgbClr val="1BAF7A"/>
          </a:solidFill>
          <a:ln w="6350">
            <a:solidFill>
              <a:srgbClr val="DDE4EA"/>
            </a:solidFill>
            <a:prstDash val="solid"/>
          </a:ln>
        </p:spPr>
      </p:sp>
      <p:sp>
        <p:nvSpPr>
          <p:cNvPr id="41" name="Text 39"/>
          <p:cNvSpPr/>
          <p:nvPr/>
        </p:nvSpPr>
        <p:spPr>
          <a:xfrm>
            <a:off x="7891272" y="3858768"/>
            <a:ext cx="1051560" cy="274320"/>
          </a:xfrm>
          <a:prstGeom prst="rect">
            <a:avLst/>
          </a:prstGeom>
          <a:noFill/>
          <a:ln/>
        </p:spPr>
        <p:txBody>
          <a:bodyPr wrap="square" lIns="0" tIns="0" rIns="0" bIns="0" rtlCol="0" anchor="ctr"/>
          <a:lstStyle/>
          <a:p>
            <a:pPr indent="0" marL="0">
              <a:buNone/>
            </a:pPr>
            <a:r>
              <a:rPr lang="en-US" sz="950" dirty="0">
                <a:solidFill>
                  <a:srgbClr val="5A6B7B"/>
                </a:solidFill>
                <a:latin typeface="Calibri" pitchFamily="34" charset="0"/>
                <a:ea typeface="Calibri" pitchFamily="34" charset="-122"/>
                <a:cs typeface="Calibri" pitchFamily="34" charset="-120"/>
              </a:rPr>
              <a:t>strong</a:t>
            </a:r>
            <a:endParaRPr lang="en-US" sz="950" dirty="0"/>
          </a:p>
        </p:txBody>
      </p:sp>
      <p:sp>
        <p:nvSpPr>
          <p:cNvPr id="42" name="Shape 40"/>
          <p:cNvSpPr/>
          <p:nvPr/>
        </p:nvSpPr>
        <p:spPr>
          <a:xfrm>
            <a:off x="8915400" y="3922776"/>
            <a:ext cx="365760" cy="164592"/>
          </a:xfrm>
          <a:prstGeom prst="roundRect">
            <a:avLst>
              <a:gd name="adj" fmla="val 22222"/>
            </a:avLst>
          </a:prstGeom>
          <a:solidFill>
            <a:srgbClr val="2A78D6"/>
          </a:solidFill>
          <a:ln w="6350">
            <a:solidFill>
              <a:srgbClr val="DDE4EA"/>
            </a:solidFill>
            <a:prstDash val="solid"/>
          </a:ln>
        </p:spPr>
      </p:sp>
      <p:sp>
        <p:nvSpPr>
          <p:cNvPr id="43" name="Text 41"/>
          <p:cNvSpPr/>
          <p:nvPr/>
        </p:nvSpPr>
        <p:spPr>
          <a:xfrm>
            <a:off x="9354312" y="3858768"/>
            <a:ext cx="1051560" cy="274320"/>
          </a:xfrm>
          <a:prstGeom prst="rect">
            <a:avLst/>
          </a:prstGeom>
          <a:noFill/>
          <a:ln/>
        </p:spPr>
        <p:txBody>
          <a:bodyPr wrap="square" lIns="0" tIns="0" rIns="0" bIns="0" rtlCol="0" anchor="ctr"/>
          <a:lstStyle/>
          <a:p>
            <a:pPr indent="0" marL="0">
              <a:buNone/>
            </a:pPr>
            <a:r>
              <a:rPr lang="en-US" sz="950" dirty="0">
                <a:solidFill>
                  <a:srgbClr val="5A6B7B"/>
                </a:solidFill>
                <a:latin typeface="Calibri" pitchFamily="34" charset="0"/>
                <a:ea typeface="Calibri" pitchFamily="34" charset="-122"/>
                <a:cs typeface="Calibri" pitchFamily="34" charset="-120"/>
              </a:rPr>
              <a:t>partial</a:t>
            </a:r>
            <a:endParaRPr lang="en-US" sz="950" dirty="0"/>
          </a:p>
        </p:txBody>
      </p:sp>
      <p:sp>
        <p:nvSpPr>
          <p:cNvPr id="44" name="Shape 42"/>
          <p:cNvSpPr/>
          <p:nvPr/>
        </p:nvSpPr>
        <p:spPr>
          <a:xfrm>
            <a:off x="10378440" y="3922776"/>
            <a:ext cx="365760" cy="164592"/>
          </a:xfrm>
          <a:prstGeom prst="roundRect">
            <a:avLst>
              <a:gd name="adj" fmla="val 22222"/>
            </a:avLst>
          </a:prstGeom>
          <a:solidFill>
            <a:srgbClr val="EDF1F5"/>
          </a:solidFill>
          <a:ln w="6350">
            <a:solidFill>
              <a:srgbClr val="DDE4EA"/>
            </a:solidFill>
            <a:prstDash val="solid"/>
          </a:ln>
        </p:spPr>
      </p:sp>
      <p:sp>
        <p:nvSpPr>
          <p:cNvPr id="45" name="Text 43"/>
          <p:cNvSpPr/>
          <p:nvPr/>
        </p:nvSpPr>
        <p:spPr>
          <a:xfrm>
            <a:off x="10817352" y="3858768"/>
            <a:ext cx="1051560" cy="274320"/>
          </a:xfrm>
          <a:prstGeom prst="rect">
            <a:avLst/>
          </a:prstGeom>
          <a:noFill/>
          <a:ln/>
        </p:spPr>
        <p:txBody>
          <a:bodyPr wrap="square" lIns="0" tIns="0" rIns="0" bIns="0" rtlCol="0" anchor="ctr"/>
          <a:lstStyle/>
          <a:p>
            <a:pPr indent="0" marL="0">
              <a:buNone/>
            </a:pPr>
            <a:r>
              <a:rPr lang="en-US" sz="950" dirty="0">
                <a:solidFill>
                  <a:srgbClr val="5A6B7B"/>
                </a:solidFill>
                <a:latin typeface="Calibri" pitchFamily="34" charset="0"/>
                <a:ea typeface="Calibri" pitchFamily="34" charset="-122"/>
                <a:cs typeface="Calibri" pitchFamily="34" charset="-120"/>
              </a:rPr>
              <a:t>weak / absent</a:t>
            </a:r>
            <a:endParaRPr lang="en-US" sz="950" dirty="0"/>
          </a:p>
        </p:txBody>
      </p:sp>
      <p:sp>
        <p:nvSpPr>
          <p:cNvPr id="46" name="Text 44"/>
          <p:cNvSpPr/>
          <p:nvPr/>
        </p:nvSpPr>
        <p:spPr>
          <a:xfrm>
            <a:off x="502920" y="6327648"/>
            <a:ext cx="6400800" cy="292608"/>
          </a:xfrm>
          <a:prstGeom prst="rect">
            <a:avLst/>
          </a:prstGeom>
          <a:noFill/>
          <a:ln/>
        </p:spPr>
        <p:txBody>
          <a:bodyPr wrap="square" lIns="0" tIns="0" rIns="0" bIns="0" rtlCol="0" anchor="ctr"/>
          <a:lstStyle/>
          <a:p>
            <a:pPr indent="0" marL="0">
              <a:buNone/>
            </a:pPr>
            <a:r>
              <a:rPr lang="en-US" sz="1000" dirty="0">
                <a:solidFill>
                  <a:srgbClr val="5A6B7B"/>
                </a:solidFill>
                <a:latin typeface="Calibri" pitchFamily="34" charset="0"/>
                <a:ea typeface="Calibri" pitchFamily="34" charset="-122"/>
                <a:cs typeface="Calibri" pitchFamily="34" charset="-120"/>
              </a:rPr>
              <a:t>Jean Direl NZE</a:t>
            </a:r>
            <a:endParaRPr lang="en-US" sz="1000" dirty="0"/>
          </a:p>
        </p:txBody>
      </p:sp>
      <p:sp>
        <p:nvSpPr>
          <p:cNvPr id="47" name="Text 45"/>
          <p:cNvSpPr/>
          <p:nvPr/>
        </p:nvSpPr>
        <p:spPr>
          <a:xfrm>
            <a:off x="11247120" y="6327648"/>
            <a:ext cx="457200" cy="292608"/>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E2E"/>
        </a:solidFill>
      </p:bgPr>
    </p:bg>
    <p:spTree>
      <p:nvGrpSpPr>
        <p:cNvPr id="1" name=""/>
        <p:cNvGrpSpPr/>
        <p:nvPr/>
      </p:nvGrpSpPr>
      <p:grpSpPr>
        <a:xfrm>
          <a:off x="0" y="0"/>
          <a:ext cx="0" cy="0"/>
          <a:chOff x="0" y="0"/>
          <a:chExt cx="0" cy="0"/>
        </a:xfrm>
      </p:grpSpPr>
      <p:sp>
        <p:nvSpPr>
          <p:cNvPr id="2" name="Shape 0"/>
          <p:cNvSpPr/>
          <p:nvPr/>
        </p:nvSpPr>
        <p:spPr>
          <a:xfrm>
            <a:off x="-2377440" y="5394960"/>
            <a:ext cx="4572000" cy="4572000"/>
          </a:xfrm>
          <a:prstGeom prst="ellipse">
            <a:avLst/>
          </a:prstGeom>
          <a:solidFill>
            <a:srgbClr val="14304A"/>
          </a:solidFill>
          <a:ln/>
        </p:spPr>
      </p:sp>
      <p:sp>
        <p:nvSpPr>
          <p:cNvPr id="3" name="Text 1"/>
          <p:cNvSpPr/>
          <p:nvPr/>
        </p:nvSpPr>
        <p:spPr>
          <a:xfrm>
            <a:off x="731520" y="777240"/>
            <a:ext cx="10698480" cy="457200"/>
          </a:xfrm>
          <a:prstGeom prst="rect">
            <a:avLst/>
          </a:prstGeom>
          <a:noFill/>
          <a:ln/>
        </p:spPr>
        <p:txBody>
          <a:bodyPr wrap="square" lIns="0" tIns="0" rIns="0" bIns="0" rtlCol="0" anchor="ctr"/>
          <a:lstStyle/>
          <a:p>
            <a:pPr indent="0" marL="0">
              <a:buNone/>
            </a:pPr>
            <a:r>
              <a:rPr lang="en-US" sz="1600" b="1" spc="200" kern="0" dirty="0">
                <a:solidFill>
                  <a:srgbClr val="EB6834"/>
                </a:solidFill>
                <a:latin typeface="Calibri" pitchFamily="34" charset="0"/>
                <a:ea typeface="Calibri" pitchFamily="34" charset="-122"/>
                <a:cs typeface="Calibri" pitchFamily="34" charset="-120"/>
              </a:rPr>
              <a:t>Our thesis</a:t>
            </a:r>
            <a:endParaRPr lang="en-US" sz="1600" dirty="0"/>
          </a:p>
        </p:txBody>
      </p:sp>
      <p:sp>
        <p:nvSpPr>
          <p:cNvPr id="4" name="Text 2"/>
          <p:cNvSpPr/>
          <p:nvPr/>
        </p:nvSpPr>
        <p:spPr>
          <a:xfrm>
            <a:off x="731520" y="1371600"/>
            <a:ext cx="10698480" cy="868680"/>
          </a:xfrm>
          <a:prstGeom prst="rect">
            <a:avLst/>
          </a:prstGeom>
          <a:noFill/>
          <a:ln/>
        </p:spPr>
        <p:txBody>
          <a:bodyPr wrap="square" lIns="0" tIns="0" rIns="0" bIns="0" rtlCol="0" anchor="ctr"/>
          <a:lstStyle/>
          <a:p>
            <a:pPr indent="0" marL="0">
              <a:lnSpc>
                <a:spcPts val="3800"/>
              </a:lnSpc>
              <a:buNone/>
            </a:pPr>
            <a:r>
              <a:rPr lang="en-US" sz="3100" b="1" dirty="0">
                <a:solidFill>
                  <a:srgbClr val="FFFFFF"/>
                </a:solidFill>
                <a:latin typeface="Cambria" pitchFamily="34" charset="0"/>
                <a:ea typeface="Cambria" pitchFamily="34" charset="-122"/>
                <a:cs typeface="Cambria" pitchFamily="34" charset="-120"/>
              </a:rPr>
              <a:t>At 30 minutes, glucose forecasting is a solved — and saturated — problem.</a:t>
            </a:r>
            <a:endParaRPr lang="en-US" sz="3100" dirty="0"/>
          </a:p>
        </p:txBody>
      </p:sp>
      <p:sp>
        <p:nvSpPr>
          <p:cNvPr id="5" name="Text 3"/>
          <p:cNvSpPr/>
          <p:nvPr/>
        </p:nvSpPr>
        <p:spPr>
          <a:xfrm>
            <a:off x="731520" y="2423160"/>
            <a:ext cx="10698480" cy="457200"/>
          </a:xfrm>
          <a:prstGeom prst="rect">
            <a:avLst/>
          </a:prstGeom>
          <a:noFill/>
          <a:ln/>
        </p:spPr>
        <p:txBody>
          <a:bodyPr wrap="square" lIns="0" tIns="0" rIns="0" bIns="0" rtlCol="0" anchor="ctr"/>
          <a:lstStyle/>
          <a:p>
            <a:pPr indent="0" marL="0">
              <a:buNone/>
            </a:pPr>
            <a:r>
              <a:rPr lang="en-US" sz="1500" dirty="0">
                <a:solidFill>
                  <a:srgbClr val="AFC3D4"/>
                </a:solidFill>
                <a:latin typeface="Calibri" pitchFamily="34" charset="0"/>
                <a:ea typeface="Calibri" pitchFamily="34" charset="-122"/>
                <a:cs typeface="Calibri" pitchFamily="34" charset="-120"/>
              </a:rPr>
              <a:t>On real CGMacros data, a trained model scores 13.11 mg/dL. "Glucose will not move" scores 13.39.</a:t>
            </a:r>
            <a:endParaRPr lang="en-US" sz="1500" dirty="0"/>
          </a:p>
        </p:txBody>
      </p:sp>
      <p:sp>
        <p:nvSpPr>
          <p:cNvPr id="6" name="Shape 4"/>
          <p:cNvSpPr/>
          <p:nvPr/>
        </p:nvSpPr>
        <p:spPr>
          <a:xfrm>
            <a:off x="731520" y="3063240"/>
            <a:ext cx="2743200" cy="1234440"/>
          </a:xfrm>
          <a:prstGeom prst="roundRect">
            <a:avLst>
              <a:gd name="adj" fmla="val 6667"/>
            </a:avLst>
          </a:prstGeom>
          <a:solidFill>
            <a:srgbClr val="14304A"/>
          </a:solidFill>
          <a:ln/>
        </p:spPr>
      </p:sp>
      <p:sp>
        <p:nvSpPr>
          <p:cNvPr id="7" name="Text 5"/>
          <p:cNvSpPr/>
          <p:nvPr/>
        </p:nvSpPr>
        <p:spPr>
          <a:xfrm>
            <a:off x="731520" y="3200400"/>
            <a:ext cx="2743200" cy="5943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13.11</a:t>
            </a:r>
            <a:endParaRPr lang="en-US" sz="3400" dirty="0"/>
          </a:p>
        </p:txBody>
      </p:sp>
      <p:sp>
        <p:nvSpPr>
          <p:cNvPr id="8" name="Text 6"/>
          <p:cNvSpPr/>
          <p:nvPr/>
        </p:nvSpPr>
        <p:spPr>
          <a:xfrm>
            <a:off x="731520" y="3794760"/>
            <a:ext cx="2743200" cy="320040"/>
          </a:xfrm>
          <a:prstGeom prst="rect">
            <a:avLst/>
          </a:prstGeom>
          <a:noFill/>
          <a:ln/>
        </p:spPr>
        <p:txBody>
          <a:bodyPr wrap="square" lIns="0" tIns="0" rIns="0" bIns="0" rtlCol="0" anchor="ctr"/>
          <a:lstStyle/>
          <a:p>
            <a:pPr algn="ctr" indent="0" marL="0">
              <a:buNone/>
            </a:pPr>
            <a:r>
              <a:rPr lang="en-US" sz="1150" dirty="0">
                <a:solidFill>
                  <a:srgbClr val="AFC3D4"/>
                </a:solidFill>
                <a:latin typeface="Calibri" pitchFamily="34" charset="0"/>
                <a:ea typeface="Calibri" pitchFamily="34" charset="-122"/>
                <a:cs typeface="Calibri" pitchFamily="34" charset="-120"/>
              </a:rPr>
              <a:t>trained model</a:t>
            </a:r>
            <a:endParaRPr lang="en-US" sz="1150" dirty="0"/>
          </a:p>
        </p:txBody>
      </p:sp>
      <p:sp>
        <p:nvSpPr>
          <p:cNvPr id="9" name="Shape 7"/>
          <p:cNvSpPr/>
          <p:nvPr/>
        </p:nvSpPr>
        <p:spPr>
          <a:xfrm>
            <a:off x="3749040" y="3063240"/>
            <a:ext cx="2743200" cy="1234440"/>
          </a:xfrm>
          <a:prstGeom prst="roundRect">
            <a:avLst>
              <a:gd name="adj" fmla="val 6667"/>
            </a:avLst>
          </a:prstGeom>
          <a:solidFill>
            <a:srgbClr val="14304A"/>
          </a:solidFill>
          <a:ln/>
        </p:spPr>
      </p:sp>
      <p:sp>
        <p:nvSpPr>
          <p:cNvPr id="10" name="Text 8"/>
          <p:cNvSpPr/>
          <p:nvPr/>
        </p:nvSpPr>
        <p:spPr>
          <a:xfrm>
            <a:off x="3749040" y="3200400"/>
            <a:ext cx="2743200" cy="594360"/>
          </a:xfrm>
          <a:prstGeom prst="rect">
            <a:avLst/>
          </a:prstGeom>
          <a:noFill/>
          <a:ln/>
        </p:spPr>
        <p:txBody>
          <a:bodyPr wrap="square" lIns="0" tIns="0" rIns="0" bIns="0" rtlCol="0" anchor="ctr"/>
          <a:lstStyle/>
          <a:p>
            <a:pPr algn="ctr" indent="0" marL="0">
              <a:buNone/>
            </a:pPr>
            <a:r>
              <a:rPr lang="en-US" sz="3400" b="1" dirty="0">
                <a:solidFill>
                  <a:srgbClr val="EB6834"/>
                </a:solidFill>
                <a:latin typeface="Cambria" pitchFamily="34" charset="0"/>
                <a:ea typeface="Cambria" pitchFamily="34" charset="-122"/>
                <a:cs typeface="Cambria" pitchFamily="34" charset="-120"/>
              </a:rPr>
              <a:t>13.39</a:t>
            </a:r>
            <a:endParaRPr lang="en-US" sz="3400" dirty="0"/>
          </a:p>
        </p:txBody>
      </p:sp>
      <p:sp>
        <p:nvSpPr>
          <p:cNvPr id="11" name="Text 9"/>
          <p:cNvSpPr/>
          <p:nvPr/>
        </p:nvSpPr>
        <p:spPr>
          <a:xfrm>
            <a:off x="3749040" y="3794760"/>
            <a:ext cx="2743200" cy="320040"/>
          </a:xfrm>
          <a:prstGeom prst="rect">
            <a:avLst/>
          </a:prstGeom>
          <a:noFill/>
          <a:ln/>
        </p:spPr>
        <p:txBody>
          <a:bodyPr wrap="square" lIns="0" tIns="0" rIns="0" bIns="0" rtlCol="0" anchor="ctr"/>
          <a:lstStyle/>
          <a:p>
            <a:pPr algn="ctr" indent="0" marL="0">
              <a:buNone/>
            </a:pPr>
            <a:r>
              <a:rPr lang="en-US" sz="1150" dirty="0">
                <a:solidFill>
                  <a:srgbClr val="AFC3D4"/>
                </a:solidFill>
                <a:latin typeface="Calibri" pitchFamily="34" charset="0"/>
                <a:ea typeface="Calibri" pitchFamily="34" charset="-122"/>
                <a:cs typeface="Calibri" pitchFamily="34" charset="-120"/>
              </a:rPr>
              <a:t>persistence baseline</a:t>
            </a:r>
            <a:endParaRPr lang="en-US" sz="1150" dirty="0"/>
          </a:p>
        </p:txBody>
      </p:sp>
      <p:sp>
        <p:nvSpPr>
          <p:cNvPr id="12" name="Text 10"/>
          <p:cNvSpPr/>
          <p:nvPr/>
        </p:nvSpPr>
        <p:spPr>
          <a:xfrm>
            <a:off x="731520" y="4617720"/>
            <a:ext cx="10698480" cy="365760"/>
          </a:xfrm>
          <a:prstGeom prst="rect">
            <a:avLst/>
          </a:prstGeom>
          <a:noFill/>
          <a:ln/>
        </p:spPr>
        <p:txBody>
          <a:bodyPr wrap="square" lIns="0" tIns="0" rIns="0" bIns="0" rtlCol="0" anchor="ctr"/>
          <a:lstStyle/>
          <a:p>
            <a:pPr indent="0" marL="0">
              <a:buNone/>
            </a:pPr>
            <a:r>
              <a:rPr lang="en-US" sz="1400" i="1" dirty="0">
                <a:solidFill>
                  <a:srgbClr val="AFC3D4"/>
                </a:solidFill>
                <a:latin typeface="Calibri" pitchFamily="34" charset="0"/>
                <a:ea typeface="Calibri" pitchFamily="34" charset="-122"/>
                <a:cs typeface="Calibri" pitchFamily="34" charset="-120"/>
              </a:rPr>
              <a:t>So the useful question is not "which model has the lowest error", but:</a:t>
            </a:r>
            <a:endParaRPr lang="en-US" sz="1400" dirty="0"/>
          </a:p>
        </p:txBody>
      </p:sp>
      <p:sp>
        <p:nvSpPr>
          <p:cNvPr id="13" name="Text 11"/>
          <p:cNvSpPr/>
          <p:nvPr/>
        </p:nvSpPr>
        <p:spPr>
          <a:xfrm>
            <a:off x="731520" y="5029200"/>
            <a:ext cx="10698480" cy="822960"/>
          </a:xfrm>
          <a:prstGeom prst="rect">
            <a:avLst/>
          </a:prstGeom>
          <a:noFill/>
          <a:ln/>
        </p:spPr>
        <p:txBody>
          <a:bodyPr wrap="square" lIns="0" tIns="0" rIns="0" bIns="0" rtlCol="0" anchor="ctr"/>
          <a:lstStyle/>
          <a:p>
            <a:pPr indent="0" marL="0">
              <a:lnSpc>
                <a:spcPts val="3000"/>
              </a:lnSpc>
              <a:buNone/>
            </a:pPr>
            <a:r>
              <a:rPr lang="en-US" sz="2200" b="1" dirty="0">
                <a:solidFill>
                  <a:srgbClr val="EB6834"/>
                </a:solidFill>
                <a:latin typeface="Cambria" pitchFamily="34" charset="0"/>
                <a:ea typeface="Cambria" pitchFamily="34" charset="-122"/>
                <a:cs typeface="Cambria" pitchFamily="34" charset="-120"/>
              </a:rPr>
              <a:t>Where does forecasting actually have clinical value —</a:t>
            </a:r>
            <a:endParaRPr lang="en-US" sz="2200" dirty="0"/>
          </a:p>
          <a:p>
            <a:pPr indent="0" marL="0">
              <a:lnSpc>
                <a:spcPts val="3000"/>
              </a:lnSpc>
              <a:buNone/>
            </a:pPr>
            <a:r>
              <a:rPr lang="en-US" sz="2200" b="1" dirty="0">
                <a:solidFill>
                  <a:srgbClr val="EB6834"/>
                </a:solidFill>
                <a:latin typeface="Cambria" pitchFamily="34" charset="0"/>
                <a:ea typeface="Cambria" pitchFamily="34" charset="-122"/>
                <a:cs typeface="Cambria" pitchFamily="34" charset="-120"/>
              </a:rPr>
              <a:t>and do we know when to trust it?</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731520"/>
          </a:xfrm>
          <a:prstGeom prst="rect">
            <a:avLst/>
          </a:prstGeom>
          <a:noFill/>
          <a:ln/>
        </p:spPr>
        <p:txBody>
          <a:bodyPr wrap="square" lIns="0" tIns="0" rIns="0" bIns="0" rtlCol="0" anchor="ctr"/>
          <a:lstStyle/>
          <a:p>
            <a:pPr indent="0" marL="0">
              <a:buNone/>
            </a:pPr>
            <a:r>
              <a:rPr lang="en-US" sz="3400" b="1" dirty="0">
                <a:solidFill>
                  <a:srgbClr val="0F1E2E"/>
                </a:solidFill>
                <a:latin typeface="Cambria" pitchFamily="34" charset="0"/>
                <a:ea typeface="Cambria" pitchFamily="34" charset="-122"/>
                <a:cs typeface="Cambria" pitchFamily="34" charset="-120"/>
              </a:rPr>
              <a:t>Our answer: an interpretable bottleneck</a:t>
            </a:r>
            <a:endParaRPr lang="en-US" sz="3400" dirty="0"/>
          </a:p>
        </p:txBody>
      </p:sp>
      <p:sp>
        <p:nvSpPr>
          <p:cNvPr id="3" name="Text 1"/>
          <p:cNvSpPr/>
          <p:nvPr/>
        </p:nvSpPr>
        <p:spPr>
          <a:xfrm>
            <a:off x="502920" y="1115568"/>
            <a:ext cx="11155680" cy="384048"/>
          </a:xfrm>
          <a:prstGeom prst="rect">
            <a:avLst/>
          </a:prstGeom>
          <a:noFill/>
          <a:ln/>
        </p:spPr>
        <p:txBody>
          <a:bodyPr wrap="square" lIns="0" tIns="0" rIns="0" bIns="0" rtlCol="0" anchor="ctr"/>
          <a:lstStyle/>
          <a:p>
            <a:pPr indent="0" marL="0">
              <a:buNone/>
            </a:pPr>
            <a:r>
              <a:rPr lang="en-US" sz="1500" dirty="0">
                <a:solidFill>
                  <a:srgbClr val="5A6B7B"/>
                </a:solidFill>
                <a:latin typeface="Calibri" pitchFamily="34" charset="0"/>
                <a:ea typeface="Calibri" pitchFamily="34" charset="-122"/>
                <a:cs typeface="Calibri" pitchFamily="34" charset="-120"/>
              </a:rPr>
              <a:t>Instead of a black box, we force the model through physiologically meaningful concepts</a:t>
            </a:r>
            <a:endParaRPr lang="en-US" sz="1500" dirty="0"/>
          </a:p>
        </p:txBody>
      </p:sp>
      <p:sp>
        <p:nvSpPr>
          <p:cNvPr id="4" name="Shape 2"/>
          <p:cNvSpPr/>
          <p:nvPr/>
        </p:nvSpPr>
        <p:spPr>
          <a:xfrm>
            <a:off x="502920" y="1783080"/>
            <a:ext cx="2606040" cy="2286000"/>
          </a:xfrm>
          <a:prstGeom prst="roundRect">
            <a:avLst>
              <a:gd name="adj" fmla="val 3600"/>
            </a:avLst>
          </a:prstGeom>
          <a:solidFill>
            <a:srgbClr val="F4F7FA"/>
          </a:solidFill>
          <a:ln w="12700">
            <a:solidFill>
              <a:srgbClr val="DDE4EA"/>
            </a:solidFill>
            <a:prstDash val="solid"/>
          </a:ln>
        </p:spPr>
      </p:sp>
      <p:sp>
        <p:nvSpPr>
          <p:cNvPr id="5" name="Shape 3"/>
          <p:cNvSpPr/>
          <p:nvPr/>
        </p:nvSpPr>
        <p:spPr>
          <a:xfrm>
            <a:off x="758952" y="2011680"/>
            <a:ext cx="420624" cy="420624"/>
          </a:xfrm>
          <a:prstGeom prst="ellipse">
            <a:avLst/>
          </a:prstGeom>
          <a:solidFill>
            <a:srgbClr val="5A6B7B"/>
          </a:solidFill>
          <a:ln/>
        </p:spPr>
      </p:sp>
      <p:sp>
        <p:nvSpPr>
          <p:cNvPr id="6" name="Text 4"/>
          <p:cNvSpPr/>
          <p:nvPr/>
        </p:nvSpPr>
        <p:spPr>
          <a:xfrm>
            <a:off x="758952" y="20116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a:t>
            </a:r>
            <a:endParaRPr lang="en-US" sz="1600" dirty="0"/>
          </a:p>
        </p:txBody>
      </p:sp>
      <p:sp>
        <p:nvSpPr>
          <p:cNvPr id="7" name="Text 5"/>
          <p:cNvSpPr/>
          <p:nvPr/>
        </p:nvSpPr>
        <p:spPr>
          <a:xfrm>
            <a:off x="758952" y="2542032"/>
            <a:ext cx="2103120" cy="292608"/>
          </a:xfrm>
          <a:prstGeom prst="rect">
            <a:avLst/>
          </a:prstGeom>
          <a:noFill/>
          <a:ln/>
        </p:spPr>
        <p:txBody>
          <a:bodyPr wrap="square" lIns="0" tIns="0" rIns="0" bIns="0" rtlCol="0" anchor="ctr"/>
          <a:lstStyle/>
          <a:p>
            <a:pPr indent="0" marL="0">
              <a:buNone/>
            </a:pPr>
            <a:r>
              <a:rPr lang="en-US" sz="1550" b="1" dirty="0">
                <a:solidFill>
                  <a:srgbClr val="0F1E2E"/>
                </a:solidFill>
                <a:latin typeface="Calibri" pitchFamily="34" charset="0"/>
                <a:ea typeface="Calibri" pitchFamily="34" charset="-122"/>
                <a:cs typeface="Calibri" pitchFamily="34" charset="-120"/>
              </a:rPr>
              <a:t>Schedule</a:t>
            </a:r>
            <a:endParaRPr lang="en-US" sz="1550" dirty="0"/>
          </a:p>
        </p:txBody>
      </p:sp>
      <p:sp>
        <p:nvSpPr>
          <p:cNvPr id="8" name="Text 6"/>
          <p:cNvSpPr/>
          <p:nvPr/>
        </p:nvSpPr>
        <p:spPr>
          <a:xfrm>
            <a:off x="758952" y="2871216"/>
            <a:ext cx="2148840" cy="685800"/>
          </a:xfrm>
          <a:prstGeom prst="rect">
            <a:avLst/>
          </a:prstGeom>
          <a:noFill/>
          <a:ln/>
        </p:spPr>
        <p:txBody>
          <a:bodyPr wrap="square" lIns="0" tIns="0" rIns="0" bIns="0" rtlCol="0" anchor="ctr"/>
          <a:lstStyle/>
          <a:p>
            <a:pPr indent="0" marL="0">
              <a:lnSpc>
                <a:spcPts val="1600"/>
              </a:lnSpc>
              <a:buNone/>
            </a:pPr>
            <a:r>
              <a:rPr lang="en-US" sz="1150" dirty="0">
                <a:solidFill>
                  <a:srgbClr val="5A6B7B"/>
                </a:solidFill>
                <a:latin typeface="Calibri" pitchFamily="34" charset="0"/>
                <a:ea typeface="Calibri" pitchFamily="34" charset="-122"/>
                <a:cs typeface="Calibri" pitchFamily="34" charset="-120"/>
              </a:rPr>
              <a:t>meals, activity,</a:t>
            </a:r>
            <a:endParaRPr lang="en-US" sz="1150" dirty="0"/>
          </a:p>
          <a:p>
            <a:pPr indent="0" marL="0">
              <a:lnSpc>
                <a:spcPts val="1600"/>
              </a:lnSpc>
              <a:buNone/>
            </a:pPr>
            <a:r>
              <a:rPr lang="en-US" sz="1150" dirty="0">
                <a:solidFill>
                  <a:srgbClr val="5A6B7B"/>
                </a:solidFill>
                <a:latin typeface="Calibri" pitchFamily="34" charset="0"/>
                <a:ea typeface="Calibri" pitchFamily="34" charset="-122"/>
                <a:cs typeface="Calibri" pitchFamily="34" charset="-120"/>
              </a:rPr>
              <a:t>sleep, context</a:t>
            </a:r>
            <a:endParaRPr lang="en-US" sz="1150" dirty="0"/>
          </a:p>
        </p:txBody>
      </p:sp>
      <p:sp>
        <p:nvSpPr>
          <p:cNvPr id="9" name="Shape 7"/>
          <p:cNvSpPr/>
          <p:nvPr/>
        </p:nvSpPr>
        <p:spPr>
          <a:xfrm>
            <a:off x="758952" y="3611880"/>
            <a:ext cx="1325880" cy="256032"/>
          </a:xfrm>
          <a:prstGeom prst="roundRect">
            <a:avLst>
              <a:gd name="adj" fmla="val 25000"/>
            </a:avLst>
          </a:prstGeom>
          <a:solidFill>
            <a:srgbClr val="EDF1F5"/>
          </a:solidFill>
          <a:ln/>
        </p:spPr>
      </p:sp>
      <p:sp>
        <p:nvSpPr>
          <p:cNvPr id="10" name="Text 8"/>
          <p:cNvSpPr/>
          <p:nvPr/>
        </p:nvSpPr>
        <p:spPr>
          <a:xfrm>
            <a:off x="758952" y="3611880"/>
            <a:ext cx="1325880" cy="256032"/>
          </a:xfrm>
          <a:prstGeom prst="rect">
            <a:avLst/>
          </a:prstGeom>
          <a:noFill/>
          <a:ln/>
        </p:spPr>
        <p:txBody>
          <a:bodyPr wrap="square" lIns="0" tIns="0" rIns="0" bIns="0" rtlCol="0" anchor="ctr"/>
          <a:lstStyle/>
          <a:p>
            <a:pPr algn="ctr" indent="0" marL="0">
              <a:buNone/>
            </a:pPr>
            <a:r>
              <a:rPr lang="en-US" sz="950" b="1" dirty="0">
                <a:solidFill>
                  <a:srgbClr val="5A6B7B"/>
                </a:solidFill>
                <a:latin typeface="Calibri" pitchFamily="34" charset="0"/>
                <a:ea typeface="Calibri" pitchFamily="34" charset="-122"/>
                <a:cs typeface="Calibri" pitchFamily="34" charset="-120"/>
              </a:rPr>
              <a:t>not learned</a:t>
            </a:r>
            <a:endParaRPr lang="en-US" sz="950" dirty="0"/>
          </a:p>
        </p:txBody>
      </p:sp>
      <p:sp>
        <p:nvSpPr>
          <p:cNvPr id="11" name="Text 9"/>
          <p:cNvSpPr/>
          <p:nvPr/>
        </p:nvSpPr>
        <p:spPr>
          <a:xfrm>
            <a:off x="3136392" y="2697480"/>
            <a:ext cx="274320" cy="365760"/>
          </a:xfrm>
          <a:prstGeom prst="rect">
            <a:avLst/>
          </a:prstGeom>
          <a:noFill/>
          <a:ln/>
        </p:spPr>
        <p:txBody>
          <a:bodyPr wrap="square" lIns="0" tIns="0" rIns="0" bIns="0" rtlCol="0" anchor="ctr"/>
          <a:lstStyle/>
          <a:p>
            <a:pPr algn="ctr" indent="0" marL="0">
              <a:buNone/>
            </a:pPr>
            <a:r>
              <a:rPr lang="en-US" sz="1900" dirty="0">
                <a:solidFill>
                  <a:srgbClr val="C6D2DC"/>
                </a:solidFill>
                <a:latin typeface="Calibri" pitchFamily="34" charset="0"/>
                <a:ea typeface="Calibri" pitchFamily="34" charset="-122"/>
                <a:cs typeface="Calibri" pitchFamily="34" charset="-120"/>
              </a:rPr>
              <a:t>→</a:t>
            </a:r>
            <a:endParaRPr lang="en-US" sz="1900" dirty="0"/>
          </a:p>
        </p:txBody>
      </p:sp>
      <p:sp>
        <p:nvSpPr>
          <p:cNvPr id="12" name="Shape 10"/>
          <p:cNvSpPr/>
          <p:nvPr/>
        </p:nvSpPr>
        <p:spPr>
          <a:xfrm>
            <a:off x="3374136" y="1783080"/>
            <a:ext cx="2606040" cy="2286000"/>
          </a:xfrm>
          <a:prstGeom prst="roundRect">
            <a:avLst>
              <a:gd name="adj" fmla="val 3600"/>
            </a:avLst>
          </a:prstGeom>
          <a:solidFill>
            <a:srgbClr val="F4F7FA"/>
          </a:solidFill>
          <a:ln w="12700">
            <a:solidFill>
              <a:srgbClr val="DDE4EA"/>
            </a:solidFill>
            <a:prstDash val="solid"/>
          </a:ln>
        </p:spPr>
      </p:sp>
      <p:sp>
        <p:nvSpPr>
          <p:cNvPr id="13" name="Shape 11"/>
          <p:cNvSpPr/>
          <p:nvPr/>
        </p:nvSpPr>
        <p:spPr>
          <a:xfrm>
            <a:off x="3630168" y="2011680"/>
            <a:ext cx="420624" cy="420624"/>
          </a:xfrm>
          <a:prstGeom prst="ellipse">
            <a:avLst/>
          </a:prstGeom>
          <a:solidFill>
            <a:srgbClr val="1BAF7A"/>
          </a:solidFill>
          <a:ln/>
        </p:spPr>
      </p:sp>
      <p:sp>
        <p:nvSpPr>
          <p:cNvPr id="14" name="Text 12"/>
          <p:cNvSpPr/>
          <p:nvPr/>
        </p:nvSpPr>
        <p:spPr>
          <a:xfrm>
            <a:off x="3630168" y="20116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5" name="Text 13"/>
          <p:cNvSpPr/>
          <p:nvPr/>
        </p:nvSpPr>
        <p:spPr>
          <a:xfrm>
            <a:off x="3630168" y="2542032"/>
            <a:ext cx="2103120" cy="292608"/>
          </a:xfrm>
          <a:prstGeom prst="rect">
            <a:avLst/>
          </a:prstGeom>
          <a:noFill/>
          <a:ln/>
        </p:spPr>
        <p:txBody>
          <a:bodyPr wrap="square" lIns="0" tIns="0" rIns="0" bIns="0" rtlCol="0" anchor="ctr"/>
          <a:lstStyle/>
          <a:p>
            <a:pPr indent="0" marL="0">
              <a:buNone/>
            </a:pPr>
            <a:r>
              <a:rPr lang="en-US" sz="1550" b="1" dirty="0">
                <a:solidFill>
                  <a:srgbClr val="0F1E2E"/>
                </a:solidFill>
                <a:latin typeface="Calibri" pitchFamily="34" charset="0"/>
                <a:ea typeface="Calibri" pitchFamily="34" charset="-122"/>
                <a:cs typeface="Calibri" pitchFamily="34" charset="-120"/>
              </a:rPr>
              <a:t>Metabolic state</a:t>
            </a:r>
            <a:endParaRPr lang="en-US" sz="1550" dirty="0"/>
          </a:p>
        </p:txBody>
      </p:sp>
      <p:sp>
        <p:nvSpPr>
          <p:cNvPr id="16" name="Text 14"/>
          <p:cNvSpPr/>
          <p:nvPr/>
        </p:nvSpPr>
        <p:spPr>
          <a:xfrm>
            <a:off x="3630168" y="2871216"/>
            <a:ext cx="2148840" cy="685800"/>
          </a:xfrm>
          <a:prstGeom prst="rect">
            <a:avLst/>
          </a:prstGeom>
          <a:noFill/>
          <a:ln/>
        </p:spPr>
        <p:txBody>
          <a:bodyPr wrap="square" lIns="0" tIns="0" rIns="0" bIns="0" rtlCol="0" anchor="ctr"/>
          <a:lstStyle/>
          <a:p>
            <a:pPr indent="0" marL="0">
              <a:lnSpc>
                <a:spcPts val="1600"/>
              </a:lnSpc>
              <a:buNone/>
            </a:pPr>
            <a:r>
              <a:rPr lang="en-US" sz="1150" dirty="0">
                <a:solidFill>
                  <a:srgbClr val="5A6B7B"/>
                </a:solidFill>
                <a:latin typeface="Calibri" pitchFamily="34" charset="0"/>
                <a:ea typeface="Calibri" pitchFamily="34" charset="-122"/>
                <a:cs typeface="Calibri" pitchFamily="34" charset="-120"/>
              </a:rPr>
              <a:t>14 readable concepts</a:t>
            </a:r>
            <a:endParaRPr lang="en-US" sz="1150" dirty="0"/>
          </a:p>
          <a:p>
            <a:pPr indent="0" marL="0">
              <a:lnSpc>
                <a:spcPts val="1600"/>
              </a:lnSpc>
              <a:buNone/>
            </a:pPr>
            <a:r>
              <a:rPr lang="en-US" sz="1150" dirty="0">
                <a:solidFill>
                  <a:srgbClr val="5A6B7B"/>
                </a:solidFill>
                <a:latin typeface="Calibri" pitchFamily="34" charset="0"/>
                <a:ea typeface="Calibri" pitchFamily="34" charset="-122"/>
                <a:cs typeface="Calibri" pitchFamily="34" charset="-120"/>
              </a:rPr>
              <a:t>from physiology</a:t>
            </a:r>
            <a:endParaRPr lang="en-US" sz="1150" dirty="0"/>
          </a:p>
        </p:txBody>
      </p:sp>
      <p:sp>
        <p:nvSpPr>
          <p:cNvPr id="17" name="Shape 15"/>
          <p:cNvSpPr/>
          <p:nvPr/>
        </p:nvSpPr>
        <p:spPr>
          <a:xfrm>
            <a:off x="3630168" y="3611880"/>
            <a:ext cx="1325880" cy="256032"/>
          </a:xfrm>
          <a:prstGeom prst="roundRect">
            <a:avLst>
              <a:gd name="adj" fmla="val 25000"/>
            </a:avLst>
          </a:prstGeom>
          <a:solidFill>
            <a:srgbClr val="EDF1F5"/>
          </a:solidFill>
          <a:ln/>
        </p:spPr>
      </p:sp>
      <p:sp>
        <p:nvSpPr>
          <p:cNvPr id="18" name="Text 16"/>
          <p:cNvSpPr/>
          <p:nvPr/>
        </p:nvSpPr>
        <p:spPr>
          <a:xfrm>
            <a:off x="3630168" y="3611880"/>
            <a:ext cx="1325880" cy="256032"/>
          </a:xfrm>
          <a:prstGeom prst="rect">
            <a:avLst/>
          </a:prstGeom>
          <a:noFill/>
          <a:ln/>
        </p:spPr>
        <p:txBody>
          <a:bodyPr wrap="square" lIns="0" tIns="0" rIns="0" bIns="0" rtlCol="0" anchor="ctr"/>
          <a:lstStyle/>
          <a:p>
            <a:pPr algn="ctr" indent="0" marL="0">
              <a:buNone/>
            </a:pPr>
            <a:r>
              <a:rPr lang="en-US" sz="950" b="1" dirty="0">
                <a:solidFill>
                  <a:srgbClr val="5A6B7B"/>
                </a:solidFill>
                <a:latin typeface="Calibri" pitchFamily="34" charset="0"/>
                <a:ea typeface="Calibri" pitchFamily="34" charset="-122"/>
                <a:cs typeface="Calibri" pitchFamily="34" charset="-120"/>
              </a:rPr>
              <a:t>not learned</a:t>
            </a:r>
            <a:endParaRPr lang="en-US" sz="950" dirty="0"/>
          </a:p>
        </p:txBody>
      </p:sp>
      <p:sp>
        <p:nvSpPr>
          <p:cNvPr id="19" name="Text 17"/>
          <p:cNvSpPr/>
          <p:nvPr/>
        </p:nvSpPr>
        <p:spPr>
          <a:xfrm>
            <a:off x="6007608" y="2697480"/>
            <a:ext cx="274320" cy="365760"/>
          </a:xfrm>
          <a:prstGeom prst="rect">
            <a:avLst/>
          </a:prstGeom>
          <a:noFill/>
          <a:ln/>
        </p:spPr>
        <p:txBody>
          <a:bodyPr wrap="square" lIns="0" tIns="0" rIns="0" bIns="0" rtlCol="0" anchor="ctr"/>
          <a:lstStyle/>
          <a:p>
            <a:pPr algn="ctr" indent="0" marL="0">
              <a:buNone/>
            </a:pPr>
            <a:r>
              <a:rPr lang="en-US" sz="1900" dirty="0">
                <a:solidFill>
                  <a:srgbClr val="C6D2DC"/>
                </a:solidFill>
                <a:latin typeface="Calibri" pitchFamily="34" charset="0"/>
                <a:ea typeface="Calibri" pitchFamily="34" charset="-122"/>
                <a:cs typeface="Calibri" pitchFamily="34" charset="-120"/>
              </a:rPr>
              <a:t>→</a:t>
            </a:r>
            <a:endParaRPr lang="en-US" sz="1900" dirty="0"/>
          </a:p>
        </p:txBody>
      </p:sp>
      <p:sp>
        <p:nvSpPr>
          <p:cNvPr id="20" name="Shape 18"/>
          <p:cNvSpPr/>
          <p:nvPr/>
        </p:nvSpPr>
        <p:spPr>
          <a:xfrm>
            <a:off x="6245352" y="1783080"/>
            <a:ext cx="2606040" cy="2286000"/>
          </a:xfrm>
          <a:prstGeom prst="roundRect">
            <a:avLst>
              <a:gd name="adj" fmla="val 3600"/>
            </a:avLst>
          </a:prstGeom>
          <a:solidFill>
            <a:srgbClr val="F4F7FA"/>
          </a:solidFill>
          <a:ln w="12700">
            <a:solidFill>
              <a:srgbClr val="DDE4EA"/>
            </a:solidFill>
            <a:prstDash val="solid"/>
          </a:ln>
        </p:spPr>
      </p:sp>
      <p:sp>
        <p:nvSpPr>
          <p:cNvPr id="21" name="Shape 19"/>
          <p:cNvSpPr/>
          <p:nvPr/>
        </p:nvSpPr>
        <p:spPr>
          <a:xfrm>
            <a:off x="6501384" y="2011680"/>
            <a:ext cx="420624" cy="420624"/>
          </a:xfrm>
          <a:prstGeom prst="ellipse">
            <a:avLst/>
          </a:prstGeom>
          <a:solidFill>
            <a:srgbClr val="2A78D6"/>
          </a:solidFill>
          <a:ln/>
        </p:spPr>
      </p:sp>
      <p:sp>
        <p:nvSpPr>
          <p:cNvPr id="22" name="Text 20"/>
          <p:cNvSpPr/>
          <p:nvPr/>
        </p:nvSpPr>
        <p:spPr>
          <a:xfrm>
            <a:off x="6501384" y="20116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3" name="Text 21"/>
          <p:cNvSpPr/>
          <p:nvPr/>
        </p:nvSpPr>
        <p:spPr>
          <a:xfrm>
            <a:off x="6501384" y="2542032"/>
            <a:ext cx="2103120" cy="292608"/>
          </a:xfrm>
          <a:prstGeom prst="rect">
            <a:avLst/>
          </a:prstGeom>
          <a:noFill/>
          <a:ln/>
        </p:spPr>
        <p:txBody>
          <a:bodyPr wrap="square" lIns="0" tIns="0" rIns="0" bIns="0" rtlCol="0" anchor="ctr"/>
          <a:lstStyle/>
          <a:p>
            <a:pPr indent="0" marL="0">
              <a:buNone/>
            </a:pPr>
            <a:r>
              <a:rPr lang="en-US" sz="1550" b="1" dirty="0">
                <a:solidFill>
                  <a:srgbClr val="0F1E2E"/>
                </a:solidFill>
                <a:latin typeface="Calibri" pitchFamily="34" charset="0"/>
                <a:ea typeface="Calibri" pitchFamily="34" charset="-122"/>
                <a:cs typeface="Calibri" pitchFamily="34" charset="-120"/>
              </a:rPr>
              <a:t>Glucose forecast</a:t>
            </a:r>
            <a:endParaRPr lang="en-US" sz="1550" dirty="0"/>
          </a:p>
        </p:txBody>
      </p:sp>
      <p:sp>
        <p:nvSpPr>
          <p:cNvPr id="24" name="Text 22"/>
          <p:cNvSpPr/>
          <p:nvPr/>
        </p:nvSpPr>
        <p:spPr>
          <a:xfrm>
            <a:off x="6501384" y="2871216"/>
            <a:ext cx="2148840" cy="685800"/>
          </a:xfrm>
          <a:prstGeom prst="rect">
            <a:avLst/>
          </a:prstGeom>
          <a:noFill/>
          <a:ln/>
        </p:spPr>
        <p:txBody>
          <a:bodyPr wrap="square" lIns="0" tIns="0" rIns="0" bIns="0" rtlCol="0" anchor="ctr"/>
          <a:lstStyle/>
          <a:p>
            <a:pPr indent="0" marL="0">
              <a:lnSpc>
                <a:spcPts val="1600"/>
              </a:lnSpc>
              <a:buNone/>
            </a:pPr>
            <a:r>
              <a:rPr lang="en-US" sz="1150" dirty="0">
                <a:solidFill>
                  <a:srgbClr val="5A6B7B"/>
                </a:solidFill>
                <a:latin typeface="Calibri" pitchFamily="34" charset="0"/>
                <a:ea typeface="Calibri" pitchFamily="34" charset="-122"/>
                <a:cs typeface="Calibri" pitchFamily="34" charset="-120"/>
              </a:rPr>
              <a:t>30 to 120 min,</a:t>
            </a:r>
            <a:endParaRPr lang="en-US" sz="1150" dirty="0"/>
          </a:p>
          <a:p>
            <a:pPr indent="0" marL="0">
              <a:lnSpc>
                <a:spcPts val="1600"/>
              </a:lnSpc>
              <a:buNone/>
            </a:pPr>
            <a:r>
              <a:rPr lang="en-US" sz="1150" dirty="0">
                <a:solidFill>
                  <a:srgbClr val="5A6B7B"/>
                </a:solidFill>
                <a:latin typeface="Calibri" pitchFamily="34" charset="0"/>
                <a:ea typeface="Calibri" pitchFamily="34" charset="-122"/>
                <a:cs typeface="Calibri" pitchFamily="34" charset="-120"/>
              </a:rPr>
              <a:t>with uncertainty</a:t>
            </a:r>
            <a:endParaRPr lang="en-US" sz="1150" dirty="0"/>
          </a:p>
        </p:txBody>
      </p:sp>
      <p:sp>
        <p:nvSpPr>
          <p:cNvPr id="25" name="Shape 23"/>
          <p:cNvSpPr/>
          <p:nvPr/>
        </p:nvSpPr>
        <p:spPr>
          <a:xfrm>
            <a:off x="6501384" y="3611880"/>
            <a:ext cx="1325880" cy="256032"/>
          </a:xfrm>
          <a:prstGeom prst="roundRect">
            <a:avLst>
              <a:gd name="adj" fmla="val 25000"/>
            </a:avLst>
          </a:prstGeom>
          <a:solidFill>
            <a:srgbClr val="2A78D6"/>
          </a:solidFill>
          <a:ln/>
        </p:spPr>
      </p:sp>
      <p:sp>
        <p:nvSpPr>
          <p:cNvPr id="26" name="Text 24"/>
          <p:cNvSpPr/>
          <p:nvPr/>
        </p:nvSpPr>
        <p:spPr>
          <a:xfrm>
            <a:off x="6501384" y="3611880"/>
            <a:ext cx="132588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learned</a:t>
            </a:r>
            <a:endParaRPr lang="en-US" sz="950" dirty="0"/>
          </a:p>
        </p:txBody>
      </p:sp>
      <p:sp>
        <p:nvSpPr>
          <p:cNvPr id="27" name="Text 25"/>
          <p:cNvSpPr/>
          <p:nvPr/>
        </p:nvSpPr>
        <p:spPr>
          <a:xfrm>
            <a:off x="8878824" y="2697480"/>
            <a:ext cx="274320" cy="365760"/>
          </a:xfrm>
          <a:prstGeom prst="rect">
            <a:avLst/>
          </a:prstGeom>
          <a:noFill/>
          <a:ln/>
        </p:spPr>
        <p:txBody>
          <a:bodyPr wrap="square" lIns="0" tIns="0" rIns="0" bIns="0" rtlCol="0" anchor="ctr"/>
          <a:lstStyle/>
          <a:p>
            <a:pPr algn="ctr" indent="0" marL="0">
              <a:buNone/>
            </a:pPr>
            <a:r>
              <a:rPr lang="en-US" sz="1900" dirty="0">
                <a:solidFill>
                  <a:srgbClr val="C6D2DC"/>
                </a:solidFill>
                <a:latin typeface="Calibri" pitchFamily="34" charset="0"/>
                <a:ea typeface="Calibri" pitchFamily="34" charset="-122"/>
                <a:cs typeface="Calibri" pitchFamily="34" charset="-120"/>
              </a:rPr>
              <a:t>→</a:t>
            </a:r>
            <a:endParaRPr lang="en-US" sz="1900" dirty="0"/>
          </a:p>
        </p:txBody>
      </p:sp>
      <p:sp>
        <p:nvSpPr>
          <p:cNvPr id="28" name="Shape 26"/>
          <p:cNvSpPr/>
          <p:nvPr/>
        </p:nvSpPr>
        <p:spPr>
          <a:xfrm>
            <a:off x="9116568" y="1783080"/>
            <a:ext cx="2606040" cy="2286000"/>
          </a:xfrm>
          <a:prstGeom prst="roundRect">
            <a:avLst>
              <a:gd name="adj" fmla="val 3600"/>
            </a:avLst>
          </a:prstGeom>
          <a:solidFill>
            <a:srgbClr val="F4F7FA"/>
          </a:solidFill>
          <a:ln w="12700">
            <a:solidFill>
              <a:srgbClr val="DDE4EA"/>
            </a:solidFill>
            <a:prstDash val="solid"/>
          </a:ln>
        </p:spPr>
      </p:sp>
      <p:sp>
        <p:nvSpPr>
          <p:cNvPr id="29" name="Shape 27"/>
          <p:cNvSpPr/>
          <p:nvPr/>
        </p:nvSpPr>
        <p:spPr>
          <a:xfrm>
            <a:off x="9372600" y="2011680"/>
            <a:ext cx="420624" cy="420624"/>
          </a:xfrm>
          <a:prstGeom prst="ellipse">
            <a:avLst/>
          </a:prstGeom>
          <a:solidFill>
            <a:srgbClr val="EB6834"/>
          </a:solidFill>
          <a:ln/>
        </p:spPr>
      </p:sp>
      <p:sp>
        <p:nvSpPr>
          <p:cNvPr id="30" name="Text 28"/>
          <p:cNvSpPr/>
          <p:nvPr/>
        </p:nvSpPr>
        <p:spPr>
          <a:xfrm>
            <a:off x="9372600" y="20116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1" name="Text 29"/>
          <p:cNvSpPr/>
          <p:nvPr/>
        </p:nvSpPr>
        <p:spPr>
          <a:xfrm>
            <a:off x="9372600" y="2542032"/>
            <a:ext cx="2103120" cy="292608"/>
          </a:xfrm>
          <a:prstGeom prst="rect">
            <a:avLst/>
          </a:prstGeom>
          <a:noFill/>
          <a:ln/>
        </p:spPr>
        <p:txBody>
          <a:bodyPr wrap="square" lIns="0" tIns="0" rIns="0" bIns="0" rtlCol="0" anchor="ctr"/>
          <a:lstStyle/>
          <a:p>
            <a:pPr indent="0" marL="0">
              <a:buNone/>
            </a:pPr>
            <a:r>
              <a:rPr lang="en-US" sz="1550" b="1" dirty="0">
                <a:solidFill>
                  <a:srgbClr val="0F1E2E"/>
                </a:solidFill>
                <a:latin typeface="Calibri" pitchFamily="34" charset="0"/>
                <a:ea typeface="Calibri" pitchFamily="34" charset="-122"/>
                <a:cs typeface="Calibri" pitchFamily="34" charset="-120"/>
              </a:rPr>
              <a:t>Risk states</a:t>
            </a:r>
            <a:endParaRPr lang="en-US" sz="1550" dirty="0"/>
          </a:p>
        </p:txBody>
      </p:sp>
      <p:sp>
        <p:nvSpPr>
          <p:cNvPr id="32" name="Text 30"/>
          <p:cNvSpPr/>
          <p:nvPr/>
        </p:nvSpPr>
        <p:spPr>
          <a:xfrm>
            <a:off x="9372600" y="2871216"/>
            <a:ext cx="2148840" cy="685800"/>
          </a:xfrm>
          <a:prstGeom prst="rect">
            <a:avLst/>
          </a:prstGeom>
          <a:noFill/>
          <a:ln/>
        </p:spPr>
        <p:txBody>
          <a:bodyPr wrap="square" lIns="0" tIns="0" rIns="0" bIns="0" rtlCol="0" anchor="ctr"/>
          <a:lstStyle/>
          <a:p>
            <a:pPr indent="0" marL="0">
              <a:lnSpc>
                <a:spcPts val="1600"/>
              </a:lnSpc>
              <a:buNone/>
            </a:pPr>
            <a:r>
              <a:rPr lang="en-US" sz="1150" dirty="0">
                <a:solidFill>
                  <a:srgbClr val="5A6B7B"/>
                </a:solidFill>
                <a:latin typeface="Calibri" pitchFamily="34" charset="0"/>
                <a:ea typeface="Calibri" pitchFamily="34" charset="-122"/>
                <a:cs typeface="Calibri" pitchFamily="34" charset="-120"/>
              </a:rPr>
              <a:t>probabilities and</a:t>
            </a:r>
            <a:endParaRPr lang="en-US" sz="1150" dirty="0"/>
          </a:p>
          <a:p>
            <a:pPr indent="0" marL="0">
              <a:lnSpc>
                <a:spcPts val="1600"/>
              </a:lnSpc>
              <a:buNone/>
            </a:pPr>
            <a:r>
              <a:rPr lang="en-US" sz="1150" dirty="0">
                <a:solidFill>
                  <a:srgbClr val="5A6B7B"/>
                </a:solidFill>
                <a:latin typeface="Calibri" pitchFamily="34" charset="0"/>
                <a:ea typeface="Calibri" pitchFamily="34" charset="-122"/>
                <a:cs typeface="Calibri" pitchFamily="34" charset="-120"/>
              </a:rPr>
              <a:t>traceable causes</a:t>
            </a:r>
            <a:endParaRPr lang="en-US" sz="1150" dirty="0"/>
          </a:p>
        </p:txBody>
      </p:sp>
      <p:sp>
        <p:nvSpPr>
          <p:cNvPr id="33" name="Shape 31"/>
          <p:cNvSpPr/>
          <p:nvPr/>
        </p:nvSpPr>
        <p:spPr>
          <a:xfrm>
            <a:off x="9372600" y="3611880"/>
            <a:ext cx="1325880" cy="256032"/>
          </a:xfrm>
          <a:prstGeom prst="roundRect">
            <a:avLst>
              <a:gd name="adj" fmla="val 25000"/>
            </a:avLst>
          </a:prstGeom>
          <a:solidFill>
            <a:srgbClr val="EDF1F5"/>
          </a:solidFill>
          <a:ln/>
        </p:spPr>
      </p:sp>
      <p:sp>
        <p:nvSpPr>
          <p:cNvPr id="34" name="Text 32"/>
          <p:cNvSpPr/>
          <p:nvPr/>
        </p:nvSpPr>
        <p:spPr>
          <a:xfrm>
            <a:off x="9372600" y="3611880"/>
            <a:ext cx="1325880" cy="256032"/>
          </a:xfrm>
          <a:prstGeom prst="rect">
            <a:avLst/>
          </a:prstGeom>
          <a:noFill/>
          <a:ln/>
        </p:spPr>
        <p:txBody>
          <a:bodyPr wrap="square" lIns="0" tIns="0" rIns="0" bIns="0" rtlCol="0" anchor="ctr"/>
          <a:lstStyle/>
          <a:p>
            <a:pPr algn="ctr" indent="0" marL="0">
              <a:buNone/>
            </a:pPr>
            <a:r>
              <a:rPr lang="en-US" sz="950" b="1" dirty="0">
                <a:solidFill>
                  <a:srgbClr val="5A6B7B"/>
                </a:solidFill>
                <a:latin typeface="Calibri" pitchFamily="34" charset="0"/>
                <a:ea typeface="Calibri" pitchFamily="34" charset="-122"/>
                <a:cs typeface="Calibri" pitchFamily="34" charset="-120"/>
              </a:rPr>
              <a:t>calibrated</a:t>
            </a:r>
            <a:endParaRPr lang="en-US" sz="950" dirty="0"/>
          </a:p>
        </p:txBody>
      </p:sp>
      <p:sp>
        <p:nvSpPr>
          <p:cNvPr id="35" name="Shape 33"/>
          <p:cNvSpPr/>
          <p:nvPr/>
        </p:nvSpPr>
        <p:spPr>
          <a:xfrm>
            <a:off x="502920" y="4343400"/>
            <a:ext cx="11155680" cy="1371600"/>
          </a:xfrm>
          <a:prstGeom prst="roundRect">
            <a:avLst>
              <a:gd name="adj" fmla="val 6000"/>
            </a:avLst>
          </a:prstGeom>
          <a:solidFill>
            <a:srgbClr val="F0F7F3"/>
          </a:solidFill>
          <a:ln w="12700">
            <a:solidFill>
              <a:srgbClr val="DDE4EA"/>
            </a:solidFill>
            <a:prstDash val="solid"/>
          </a:ln>
        </p:spPr>
      </p:sp>
      <p:sp>
        <p:nvSpPr>
          <p:cNvPr id="36" name="Text 34"/>
          <p:cNvSpPr/>
          <p:nvPr/>
        </p:nvSpPr>
        <p:spPr>
          <a:xfrm>
            <a:off x="822960" y="4498848"/>
            <a:ext cx="3657600" cy="274320"/>
          </a:xfrm>
          <a:prstGeom prst="rect">
            <a:avLst/>
          </a:prstGeom>
          <a:noFill/>
          <a:ln/>
        </p:spPr>
        <p:txBody>
          <a:bodyPr wrap="square" lIns="0" tIns="0" rIns="0" bIns="0" rtlCol="0" anchor="ctr"/>
          <a:lstStyle/>
          <a:p>
            <a:pPr indent="0" marL="0">
              <a:buNone/>
            </a:pPr>
            <a:r>
              <a:rPr lang="en-US" sz="1400" b="1" dirty="0">
                <a:solidFill>
                  <a:srgbClr val="1BAF7A"/>
                </a:solidFill>
                <a:latin typeface="Calibri" pitchFamily="34" charset="0"/>
                <a:ea typeface="Calibri" pitchFamily="34" charset="-122"/>
                <a:cs typeface="Calibri" pitchFamily="34" charset="-120"/>
              </a:rPr>
              <a:t>Why this matters</a:t>
            </a:r>
            <a:endParaRPr lang="en-US" sz="1400" dirty="0"/>
          </a:p>
        </p:txBody>
      </p:sp>
      <p:sp>
        <p:nvSpPr>
          <p:cNvPr id="37" name="Text 35"/>
          <p:cNvSpPr/>
          <p:nvPr/>
        </p:nvSpPr>
        <p:spPr>
          <a:xfrm>
            <a:off x="822960" y="4809744"/>
            <a:ext cx="10515600" cy="777240"/>
          </a:xfrm>
          <a:prstGeom prst="rect">
            <a:avLst/>
          </a:prstGeom>
          <a:noFill/>
          <a:ln/>
        </p:spPr>
        <p:txBody>
          <a:bodyPr wrap="square" lIns="0" tIns="0" rIns="0" bIns="0" rtlCol="0" anchor="ctr"/>
          <a:lstStyle/>
          <a:p>
            <a:pPr indent="0" marL="0">
              <a:lnSpc>
                <a:spcPts val="1800"/>
              </a:lnSpc>
              <a:buNone/>
            </a:pPr>
            <a:r>
              <a:rPr lang="en-US" sz="1250" b="1" dirty="0">
                <a:solidFill>
                  <a:srgbClr val="0F1E2E"/>
                </a:solidFill>
                <a:latin typeface="Calibri" pitchFamily="34" charset="0"/>
                <a:ea typeface="Calibri" pitchFamily="34" charset="-122"/>
                <a:cs typeface="Calibri" pitchFamily="34" charset="-120"/>
              </a:rPr>
              <a:t>Explainable by construction — </a:t>
            </a:r>
            <a:pPr indent="0" marL="0">
              <a:lnSpc>
                <a:spcPts val="1800"/>
              </a:lnSpc>
              <a:buNone/>
            </a:pPr>
            <a:r>
              <a:rPr lang="en-US" sz="1250" dirty="0">
                <a:solidFill>
                  <a:srgbClr val="0F1E2E"/>
                </a:solidFill>
                <a:latin typeface="Calibri" pitchFamily="34" charset="0"/>
                <a:ea typeface="Calibri" pitchFamily="34" charset="-122"/>
                <a:cs typeface="Calibri" pitchFamily="34" charset="-120"/>
              </a:rPr>
              <a:t>not "feature 7 weighed 0.3", but "your 45-min session burned ~38 g of carbohydrate".   </a:t>
            </a:r>
            <a:pPr indent="0" marL="0">
              <a:lnSpc>
                <a:spcPts val="1800"/>
              </a:lnSpc>
              <a:buNone/>
            </a:pPr>
            <a:r>
              <a:rPr lang="en-US" sz="1250" b="1" dirty="0">
                <a:solidFill>
                  <a:srgbClr val="0F1E2E"/>
                </a:solidFill>
                <a:latin typeface="Calibri" pitchFamily="34" charset="0"/>
                <a:ea typeface="Calibri" pitchFamily="34" charset="-122"/>
                <a:cs typeface="Calibri" pitchFamily="34" charset="-120"/>
              </a:rPr>
              <a:t>Correctable — </a:t>
            </a:r>
            <a:pPr indent="0" marL="0">
              <a:lnSpc>
                <a:spcPts val="1800"/>
              </a:lnSpc>
              <a:buNone/>
            </a:pPr>
            <a:r>
              <a:rPr lang="en-US" sz="1250" dirty="0">
                <a:solidFill>
                  <a:srgbClr val="0F1E2E"/>
                </a:solidFill>
                <a:latin typeface="Calibri" pitchFamily="34" charset="0"/>
                <a:ea typeface="Calibri" pitchFamily="34" charset="-122"/>
                <a:cs typeface="Calibri" pitchFamily="34" charset="-120"/>
              </a:rPr>
              <a:t>a clinician can fix a concept and the forecast updates.   </a:t>
            </a:r>
            <a:pPr indent="0" marL="0">
              <a:lnSpc>
                <a:spcPts val="1800"/>
              </a:lnSpc>
              <a:buNone/>
            </a:pPr>
            <a:r>
              <a:rPr lang="en-US" sz="1250" b="1" dirty="0">
                <a:solidFill>
                  <a:srgbClr val="0F1E2E"/>
                </a:solidFill>
                <a:latin typeface="Calibri" pitchFamily="34" charset="0"/>
                <a:ea typeface="Calibri" pitchFamily="34" charset="-122"/>
                <a:cs typeface="Calibri" pitchFamily="34" charset="-120"/>
              </a:rPr>
              <a:t>Traceable — </a:t>
            </a:r>
            <a:pPr indent="0" marL="0">
              <a:lnSpc>
                <a:spcPts val="1800"/>
              </a:lnSpc>
              <a:buNone/>
            </a:pPr>
            <a:r>
              <a:rPr lang="en-US" sz="1250" dirty="0">
                <a:solidFill>
                  <a:srgbClr val="0F1E2E"/>
                </a:solidFill>
                <a:latin typeface="Calibri" pitchFamily="34" charset="0"/>
                <a:ea typeface="Calibri" pitchFamily="34" charset="-122"/>
                <a:cs typeface="Calibri" pitchFamily="34" charset="-120"/>
              </a:rPr>
              <a:t>every recommendation points to the mechanism that triggered it.</a:t>
            </a:r>
            <a:endParaRPr lang="en-US" sz="1250" dirty="0"/>
          </a:p>
        </p:txBody>
      </p:sp>
      <p:sp>
        <p:nvSpPr>
          <p:cNvPr id="38" name="Text 36"/>
          <p:cNvSpPr/>
          <p:nvPr/>
        </p:nvSpPr>
        <p:spPr>
          <a:xfrm>
            <a:off x="502920" y="6327648"/>
            <a:ext cx="6400800" cy="292608"/>
          </a:xfrm>
          <a:prstGeom prst="rect">
            <a:avLst/>
          </a:prstGeom>
          <a:noFill/>
          <a:ln/>
        </p:spPr>
        <p:txBody>
          <a:bodyPr wrap="square" lIns="0" tIns="0" rIns="0" bIns="0" rtlCol="0" anchor="ctr"/>
          <a:lstStyle/>
          <a:p>
            <a:pPr indent="0" marL="0">
              <a:buNone/>
            </a:pPr>
            <a:r>
              <a:rPr lang="en-US" sz="1000" dirty="0">
                <a:solidFill>
                  <a:srgbClr val="5A6B7B"/>
                </a:solidFill>
                <a:latin typeface="Calibri" pitchFamily="34" charset="0"/>
                <a:ea typeface="Calibri" pitchFamily="34" charset="-122"/>
                <a:cs typeface="Calibri" pitchFamily="34" charset="-120"/>
              </a:rPr>
              <a:t>Xavier ONDO</a:t>
            </a:r>
            <a:endParaRPr lang="en-US" sz="1000" dirty="0"/>
          </a:p>
        </p:txBody>
      </p:sp>
      <p:sp>
        <p:nvSpPr>
          <p:cNvPr id="39" name="Text 37"/>
          <p:cNvSpPr/>
          <p:nvPr/>
        </p:nvSpPr>
        <p:spPr>
          <a:xfrm>
            <a:off x="11247120" y="6327648"/>
            <a:ext cx="457200" cy="292608"/>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E2E"/>
        </a:solidFill>
      </p:bgPr>
    </p:bg>
    <p:spTree>
      <p:nvGrpSpPr>
        <p:cNvPr id="1" name=""/>
        <p:cNvGrpSpPr/>
        <p:nvPr/>
      </p:nvGrpSpPr>
      <p:grpSpPr>
        <a:xfrm>
          <a:off x="0" y="0"/>
          <a:ext cx="0" cy="0"/>
          <a:chOff x="0" y="0"/>
          <a:chExt cx="0" cy="0"/>
        </a:xfrm>
      </p:grpSpPr>
      <p:sp>
        <p:nvSpPr>
          <p:cNvPr id="2" name="Shape 0"/>
          <p:cNvSpPr/>
          <p:nvPr/>
        </p:nvSpPr>
        <p:spPr>
          <a:xfrm>
            <a:off x="9875520" y="-1097280"/>
            <a:ext cx="4754880" cy="4754880"/>
          </a:xfrm>
          <a:prstGeom prst="ellipse">
            <a:avLst/>
          </a:prstGeom>
          <a:solidFill>
            <a:srgbClr val="14304A"/>
          </a:solidFill>
          <a:ln/>
        </p:spPr>
      </p:sp>
      <p:sp>
        <p:nvSpPr>
          <p:cNvPr id="3" name="Text 1"/>
          <p:cNvSpPr/>
          <p:nvPr/>
        </p:nvSpPr>
        <p:spPr>
          <a:xfrm>
            <a:off x="731520" y="1417320"/>
            <a:ext cx="8229600" cy="411480"/>
          </a:xfrm>
          <a:prstGeom prst="rect">
            <a:avLst/>
          </a:prstGeom>
          <a:noFill/>
          <a:ln/>
        </p:spPr>
        <p:txBody>
          <a:bodyPr wrap="square" lIns="0" tIns="0" rIns="0" bIns="0" rtlCol="0" anchor="ctr"/>
          <a:lstStyle/>
          <a:p>
            <a:pPr indent="0" marL="0">
              <a:buNone/>
            </a:pPr>
            <a:r>
              <a:rPr lang="en-US" sz="1500" b="1" spc="300" kern="0" dirty="0">
                <a:solidFill>
                  <a:srgbClr val="EB6834"/>
                </a:solidFill>
                <a:latin typeface="Calibri" pitchFamily="34" charset="0"/>
                <a:ea typeface="Calibri" pitchFamily="34" charset="-122"/>
                <a:cs typeface="Calibri" pitchFamily="34" charset="-120"/>
              </a:rPr>
              <a:t>LIVE DEMO</a:t>
            </a:r>
            <a:endParaRPr lang="en-US" sz="1500" dirty="0"/>
          </a:p>
        </p:txBody>
      </p:sp>
      <p:sp>
        <p:nvSpPr>
          <p:cNvPr id="4" name="Text 2"/>
          <p:cNvSpPr/>
          <p:nvPr/>
        </p:nvSpPr>
        <p:spPr>
          <a:xfrm>
            <a:off x="731520" y="1874520"/>
            <a:ext cx="822960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GlucoTwin</a:t>
            </a:r>
            <a:endParaRPr lang="en-US" sz="4600" dirty="0"/>
          </a:p>
        </p:txBody>
      </p:sp>
      <p:sp>
        <p:nvSpPr>
          <p:cNvPr id="5" name="Shape 3"/>
          <p:cNvSpPr/>
          <p:nvPr/>
        </p:nvSpPr>
        <p:spPr>
          <a:xfrm>
            <a:off x="777240" y="2999232"/>
            <a:ext cx="310896" cy="310896"/>
          </a:xfrm>
          <a:prstGeom prst="ellipse">
            <a:avLst/>
          </a:prstGeom>
          <a:solidFill>
            <a:srgbClr val="EB6834"/>
          </a:solidFill>
          <a:ln/>
        </p:spPr>
      </p:sp>
      <p:sp>
        <p:nvSpPr>
          <p:cNvPr id="6" name="Text 4"/>
          <p:cNvSpPr/>
          <p:nvPr/>
        </p:nvSpPr>
        <p:spPr>
          <a:xfrm>
            <a:off x="777240" y="299923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34440" y="2971800"/>
            <a:ext cx="82296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Edit the day — meals, activities from a 78-item catalogue</a:t>
            </a:r>
            <a:endParaRPr lang="en-US" sz="1500" dirty="0"/>
          </a:p>
        </p:txBody>
      </p:sp>
      <p:sp>
        <p:nvSpPr>
          <p:cNvPr id="8" name="Shape 6"/>
          <p:cNvSpPr/>
          <p:nvPr/>
        </p:nvSpPr>
        <p:spPr>
          <a:xfrm>
            <a:off x="777240" y="3657600"/>
            <a:ext cx="310896" cy="310896"/>
          </a:xfrm>
          <a:prstGeom prst="ellipse">
            <a:avLst/>
          </a:prstGeom>
          <a:solidFill>
            <a:srgbClr val="EB6834"/>
          </a:solidFill>
          <a:ln/>
        </p:spPr>
      </p:sp>
      <p:sp>
        <p:nvSpPr>
          <p:cNvPr id="9" name="Text 7"/>
          <p:cNvSpPr/>
          <p:nvPr/>
        </p:nvSpPr>
        <p:spPr>
          <a:xfrm>
            <a:off x="777240" y="36576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34440" y="3630168"/>
            <a:ext cx="82296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Hover the curve — the metabolic concepts update live</a:t>
            </a:r>
            <a:endParaRPr lang="en-US" sz="1500" dirty="0"/>
          </a:p>
        </p:txBody>
      </p:sp>
      <p:sp>
        <p:nvSpPr>
          <p:cNvPr id="11" name="Shape 9"/>
          <p:cNvSpPr/>
          <p:nvPr/>
        </p:nvSpPr>
        <p:spPr>
          <a:xfrm>
            <a:off x="777240" y="4315968"/>
            <a:ext cx="310896" cy="310896"/>
          </a:xfrm>
          <a:prstGeom prst="ellipse">
            <a:avLst/>
          </a:prstGeom>
          <a:solidFill>
            <a:srgbClr val="EB6834"/>
          </a:solidFill>
          <a:ln/>
        </p:spPr>
      </p:sp>
      <p:sp>
        <p:nvSpPr>
          <p:cNvPr id="12" name="Text 10"/>
          <p:cNvSpPr/>
          <p:nvPr/>
        </p:nvSpPr>
        <p:spPr>
          <a:xfrm>
            <a:off x="777240" y="431596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234440" y="4288536"/>
            <a:ext cx="82296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Compare interventions — six alternative days, ranked</a:t>
            </a:r>
            <a:endParaRPr lang="en-US" sz="1500" dirty="0"/>
          </a:p>
        </p:txBody>
      </p:sp>
      <p:sp>
        <p:nvSpPr>
          <p:cNvPr id="14" name="Text 12"/>
          <p:cNvSpPr/>
          <p:nvPr/>
        </p:nvSpPr>
        <p:spPr>
          <a:xfrm>
            <a:off x="731520" y="5212080"/>
            <a:ext cx="8778240" cy="320040"/>
          </a:xfrm>
          <a:prstGeom prst="rect">
            <a:avLst/>
          </a:prstGeom>
          <a:noFill/>
          <a:ln/>
        </p:spPr>
        <p:txBody>
          <a:bodyPr wrap="square" lIns="0" tIns="0" rIns="0" bIns="0" rtlCol="0" anchor="ctr"/>
          <a:lstStyle/>
          <a:p>
            <a:pPr indent="0" marL="0">
              <a:buNone/>
            </a:pPr>
            <a:r>
              <a:rPr lang="en-US" sz="1200" i="1" dirty="0">
                <a:solidFill>
                  <a:srgbClr val="5A6B7B"/>
                </a:solidFill>
                <a:latin typeface="Calibri" pitchFamily="34" charset="0"/>
                <a:ea typeface="Calibri" pitchFamily="34" charset="-122"/>
                <a:cs typeface="Calibri" pitchFamily="34" charset="-120"/>
              </a:rPr>
              <a:t>Single self-contained HTML file — no install, no server, works offline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731520"/>
          </a:xfrm>
          <a:prstGeom prst="rect">
            <a:avLst/>
          </a:prstGeom>
          <a:noFill/>
          <a:ln/>
        </p:spPr>
        <p:txBody>
          <a:bodyPr wrap="square" lIns="0" tIns="0" rIns="0" bIns="0" rtlCol="0" anchor="ctr"/>
          <a:lstStyle/>
          <a:p>
            <a:pPr indent="0" marL="0">
              <a:buNone/>
            </a:pPr>
            <a:r>
              <a:rPr lang="en-US" sz="3400" b="1" dirty="0">
                <a:solidFill>
                  <a:srgbClr val="0F1E2E"/>
                </a:solidFill>
                <a:latin typeface="Cambria" pitchFamily="34" charset="0"/>
                <a:ea typeface="Cambria" pitchFamily="34" charset="-122"/>
                <a:cs typeface="Cambria" pitchFamily="34" charset="-120"/>
              </a:rPr>
              <a:t>How we evaluate — three non-negotiable rules</a:t>
            </a:r>
            <a:endParaRPr lang="en-US" sz="3400" dirty="0"/>
          </a:p>
        </p:txBody>
      </p:sp>
      <p:sp>
        <p:nvSpPr>
          <p:cNvPr id="3" name="Text 1"/>
          <p:cNvSpPr/>
          <p:nvPr/>
        </p:nvSpPr>
        <p:spPr>
          <a:xfrm>
            <a:off x="502920" y="1115568"/>
            <a:ext cx="11155680" cy="384048"/>
          </a:xfrm>
          <a:prstGeom prst="rect">
            <a:avLst/>
          </a:prstGeom>
          <a:noFill/>
          <a:ln/>
        </p:spPr>
        <p:txBody>
          <a:bodyPr wrap="square" lIns="0" tIns="0" rIns="0" bIns="0" rtlCol="0" anchor="ctr"/>
          <a:lstStyle/>
          <a:p>
            <a:pPr indent="0" marL="0">
              <a:buNone/>
            </a:pPr>
            <a:r>
              <a:rPr lang="en-US" sz="1500" dirty="0">
                <a:solidFill>
                  <a:srgbClr val="5A6B7B"/>
                </a:solidFill>
                <a:latin typeface="Calibri" pitchFamily="34" charset="0"/>
                <a:ea typeface="Calibri" pitchFamily="34" charset="-122"/>
                <a:cs typeface="Calibri" pitchFamily="34" charset="-120"/>
              </a:rPr>
              <a:t>Most of the credibility of this project sits in this slide</a:t>
            </a:r>
            <a:endParaRPr lang="en-US" sz="1500" dirty="0"/>
          </a:p>
        </p:txBody>
      </p:sp>
      <p:sp>
        <p:nvSpPr>
          <p:cNvPr id="4" name="Shape 2"/>
          <p:cNvSpPr/>
          <p:nvPr/>
        </p:nvSpPr>
        <p:spPr>
          <a:xfrm>
            <a:off x="502920" y="1783080"/>
            <a:ext cx="7315200" cy="1143000"/>
          </a:xfrm>
          <a:prstGeom prst="roundRect">
            <a:avLst>
              <a:gd name="adj" fmla="val 7200"/>
            </a:avLst>
          </a:prstGeom>
          <a:solidFill>
            <a:srgbClr val="F4F7FA"/>
          </a:solidFill>
          <a:ln w="12700">
            <a:solidFill>
              <a:srgbClr val="DDE4EA"/>
            </a:solidFill>
            <a:prstDash val="solid"/>
          </a:ln>
        </p:spPr>
      </p:sp>
      <p:sp>
        <p:nvSpPr>
          <p:cNvPr id="5" name="Shape 3"/>
          <p:cNvSpPr/>
          <p:nvPr/>
        </p:nvSpPr>
        <p:spPr>
          <a:xfrm>
            <a:off x="777240" y="2167128"/>
            <a:ext cx="365760" cy="365760"/>
          </a:xfrm>
          <a:prstGeom prst="ellipse">
            <a:avLst/>
          </a:prstGeom>
          <a:solidFill>
            <a:srgbClr val="2A78D6"/>
          </a:solidFill>
          <a:ln/>
        </p:spPr>
      </p:sp>
      <p:sp>
        <p:nvSpPr>
          <p:cNvPr id="6" name="Text 4"/>
          <p:cNvSpPr/>
          <p:nvPr/>
        </p:nvSpPr>
        <p:spPr>
          <a:xfrm>
            <a:off x="777240" y="2167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25880" y="1929384"/>
            <a:ext cx="6309360" cy="292608"/>
          </a:xfrm>
          <a:prstGeom prst="rect">
            <a:avLst/>
          </a:prstGeom>
          <a:noFill/>
          <a:ln/>
        </p:spPr>
        <p:txBody>
          <a:bodyPr wrap="square" lIns="0" tIns="0" rIns="0" bIns="0" rtlCol="0" anchor="ctr"/>
          <a:lstStyle/>
          <a:p>
            <a:pPr indent="0" marL="0">
              <a:buNone/>
            </a:pPr>
            <a:r>
              <a:rPr lang="en-US" sz="1550" b="1" dirty="0">
                <a:solidFill>
                  <a:srgbClr val="0F1E2E"/>
                </a:solidFill>
                <a:latin typeface="Calibri" pitchFamily="34" charset="0"/>
                <a:ea typeface="Calibri" pitchFamily="34" charset="-122"/>
                <a:cs typeface="Calibri" pitchFamily="34" charset="-120"/>
              </a:rPr>
              <a:t>Leave-one-patient-out</a:t>
            </a:r>
            <a:endParaRPr lang="en-US" sz="1550" dirty="0"/>
          </a:p>
        </p:txBody>
      </p:sp>
      <p:sp>
        <p:nvSpPr>
          <p:cNvPr id="8" name="Text 6"/>
          <p:cNvSpPr/>
          <p:nvPr/>
        </p:nvSpPr>
        <p:spPr>
          <a:xfrm>
            <a:off x="1325880" y="2240280"/>
            <a:ext cx="6309360" cy="621792"/>
          </a:xfrm>
          <a:prstGeom prst="rect">
            <a:avLst/>
          </a:prstGeom>
          <a:noFill/>
          <a:ln/>
        </p:spPr>
        <p:txBody>
          <a:bodyPr wrap="square" lIns="0" tIns="0" rIns="0" bIns="0" rtlCol="0" anchor="ctr"/>
          <a:lstStyle/>
          <a:p>
            <a:pPr indent="0" marL="0">
              <a:lnSpc>
                <a:spcPts val="1600"/>
              </a:lnSpc>
              <a:buNone/>
            </a:pPr>
            <a:r>
              <a:rPr lang="en-US" sz="1150" dirty="0">
                <a:solidFill>
                  <a:srgbClr val="5A6B7B"/>
                </a:solidFill>
                <a:latin typeface="Calibri" pitchFamily="34" charset="0"/>
                <a:ea typeface="Calibri" pitchFamily="34" charset="-122"/>
                <a:cs typeface="Calibri" pitchFamily="34" charset="-120"/>
              </a:rPr>
              <a:t>Each patient is tested having never been seen in training. Neighbouring CGM samples from one person are highly correlated — a random split would be far too optimistic.</a:t>
            </a:r>
            <a:endParaRPr lang="en-US" sz="1150" dirty="0"/>
          </a:p>
        </p:txBody>
      </p:sp>
      <p:sp>
        <p:nvSpPr>
          <p:cNvPr id="9" name="Shape 7"/>
          <p:cNvSpPr/>
          <p:nvPr/>
        </p:nvSpPr>
        <p:spPr>
          <a:xfrm>
            <a:off x="502920" y="3081528"/>
            <a:ext cx="7315200" cy="1143000"/>
          </a:xfrm>
          <a:prstGeom prst="roundRect">
            <a:avLst>
              <a:gd name="adj" fmla="val 7200"/>
            </a:avLst>
          </a:prstGeom>
          <a:solidFill>
            <a:srgbClr val="F4F7FA"/>
          </a:solidFill>
          <a:ln w="12700">
            <a:solidFill>
              <a:srgbClr val="DDE4EA"/>
            </a:solidFill>
            <a:prstDash val="solid"/>
          </a:ln>
        </p:spPr>
      </p:sp>
      <p:sp>
        <p:nvSpPr>
          <p:cNvPr id="10" name="Shape 8"/>
          <p:cNvSpPr/>
          <p:nvPr/>
        </p:nvSpPr>
        <p:spPr>
          <a:xfrm>
            <a:off x="777240" y="3465576"/>
            <a:ext cx="365760" cy="365760"/>
          </a:xfrm>
          <a:prstGeom prst="ellipse">
            <a:avLst/>
          </a:prstGeom>
          <a:solidFill>
            <a:srgbClr val="EB6834"/>
          </a:solidFill>
          <a:ln/>
        </p:spPr>
      </p:sp>
      <p:sp>
        <p:nvSpPr>
          <p:cNvPr id="11" name="Text 9"/>
          <p:cNvSpPr/>
          <p:nvPr/>
        </p:nvSpPr>
        <p:spPr>
          <a:xfrm>
            <a:off x="777240" y="346557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325880" y="3227832"/>
            <a:ext cx="6309360" cy="292608"/>
          </a:xfrm>
          <a:prstGeom prst="rect">
            <a:avLst/>
          </a:prstGeom>
          <a:noFill/>
          <a:ln/>
        </p:spPr>
        <p:txBody>
          <a:bodyPr wrap="square" lIns="0" tIns="0" rIns="0" bIns="0" rtlCol="0" anchor="ctr"/>
          <a:lstStyle/>
          <a:p>
            <a:pPr indent="0" marL="0">
              <a:buNone/>
            </a:pPr>
            <a:r>
              <a:rPr lang="en-US" sz="1550" b="1" dirty="0">
                <a:solidFill>
                  <a:srgbClr val="0F1E2E"/>
                </a:solidFill>
                <a:latin typeface="Calibri" pitchFamily="34" charset="0"/>
                <a:ea typeface="Calibri" pitchFamily="34" charset="-122"/>
                <a:cs typeface="Calibri" pitchFamily="34" charset="-120"/>
              </a:rPr>
              <a:t>Always against persistence</a:t>
            </a:r>
            <a:endParaRPr lang="en-US" sz="1550" dirty="0"/>
          </a:p>
        </p:txBody>
      </p:sp>
      <p:sp>
        <p:nvSpPr>
          <p:cNvPr id="13" name="Text 11"/>
          <p:cNvSpPr/>
          <p:nvPr/>
        </p:nvSpPr>
        <p:spPr>
          <a:xfrm>
            <a:off x="1325880" y="3538728"/>
            <a:ext cx="6309360" cy="621792"/>
          </a:xfrm>
          <a:prstGeom prst="rect">
            <a:avLst/>
          </a:prstGeom>
          <a:noFill/>
          <a:ln/>
        </p:spPr>
        <p:txBody>
          <a:bodyPr wrap="square" lIns="0" tIns="0" rIns="0" bIns="0" rtlCol="0" anchor="ctr"/>
          <a:lstStyle/>
          <a:p>
            <a:pPr indent="0" marL="0">
              <a:lnSpc>
                <a:spcPts val="1600"/>
              </a:lnSpc>
              <a:buNone/>
            </a:pPr>
            <a:r>
              <a:rPr lang="en-US" sz="1150" dirty="0">
                <a:solidFill>
                  <a:srgbClr val="5A6B7B"/>
                </a:solidFill>
                <a:latin typeface="Calibri" pitchFamily="34" charset="0"/>
                <a:ea typeface="Calibri" pitchFamily="34" charset="-122"/>
                <a:cs typeface="Calibri" pitchFamily="34" charset="-120"/>
              </a:rPr>
              <a:t>"Glucose will not move" is a brutal baseline at short horizons. A model that cannot beat it adds nothing, whatever its RMSE.</a:t>
            </a:r>
            <a:endParaRPr lang="en-US" sz="1150" dirty="0"/>
          </a:p>
        </p:txBody>
      </p:sp>
      <p:sp>
        <p:nvSpPr>
          <p:cNvPr id="14" name="Shape 12"/>
          <p:cNvSpPr/>
          <p:nvPr/>
        </p:nvSpPr>
        <p:spPr>
          <a:xfrm>
            <a:off x="502920" y="4379976"/>
            <a:ext cx="7315200" cy="1143000"/>
          </a:xfrm>
          <a:prstGeom prst="roundRect">
            <a:avLst>
              <a:gd name="adj" fmla="val 7200"/>
            </a:avLst>
          </a:prstGeom>
          <a:solidFill>
            <a:srgbClr val="F4F7FA"/>
          </a:solidFill>
          <a:ln w="12700">
            <a:solidFill>
              <a:srgbClr val="DDE4EA"/>
            </a:solidFill>
            <a:prstDash val="solid"/>
          </a:ln>
        </p:spPr>
      </p:sp>
      <p:sp>
        <p:nvSpPr>
          <p:cNvPr id="15" name="Shape 13"/>
          <p:cNvSpPr/>
          <p:nvPr/>
        </p:nvSpPr>
        <p:spPr>
          <a:xfrm>
            <a:off x="777240" y="4764024"/>
            <a:ext cx="365760" cy="365760"/>
          </a:xfrm>
          <a:prstGeom prst="ellipse">
            <a:avLst/>
          </a:prstGeom>
          <a:solidFill>
            <a:srgbClr val="1BAF7A"/>
          </a:solidFill>
          <a:ln/>
        </p:spPr>
      </p:sp>
      <p:sp>
        <p:nvSpPr>
          <p:cNvPr id="16" name="Text 14"/>
          <p:cNvSpPr/>
          <p:nvPr/>
        </p:nvSpPr>
        <p:spPr>
          <a:xfrm>
            <a:off x="777240" y="47640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325880" y="4526280"/>
            <a:ext cx="6309360" cy="292608"/>
          </a:xfrm>
          <a:prstGeom prst="rect">
            <a:avLst/>
          </a:prstGeom>
          <a:noFill/>
          <a:ln/>
        </p:spPr>
        <p:txBody>
          <a:bodyPr wrap="square" lIns="0" tIns="0" rIns="0" bIns="0" rtlCol="0" anchor="ctr"/>
          <a:lstStyle/>
          <a:p>
            <a:pPr indent="0" marL="0">
              <a:buNone/>
            </a:pPr>
            <a:r>
              <a:rPr lang="en-US" sz="1550" b="1" dirty="0">
                <a:solidFill>
                  <a:srgbClr val="0F1E2E"/>
                </a:solidFill>
                <a:latin typeface="Calibri" pitchFamily="34" charset="0"/>
                <a:ea typeface="Calibri" pitchFamily="34" charset="-122"/>
                <a:cs typeface="Calibri" pitchFamily="34" charset="-120"/>
              </a:rPr>
              <a:t>Always with uncertainty</a:t>
            </a:r>
            <a:endParaRPr lang="en-US" sz="1550" dirty="0"/>
          </a:p>
        </p:txBody>
      </p:sp>
      <p:sp>
        <p:nvSpPr>
          <p:cNvPr id="18" name="Text 16"/>
          <p:cNvSpPr/>
          <p:nvPr/>
        </p:nvSpPr>
        <p:spPr>
          <a:xfrm>
            <a:off x="1325880" y="4837176"/>
            <a:ext cx="6309360" cy="621792"/>
          </a:xfrm>
          <a:prstGeom prst="rect">
            <a:avLst/>
          </a:prstGeom>
          <a:noFill/>
          <a:ln/>
        </p:spPr>
        <p:txBody>
          <a:bodyPr wrap="square" lIns="0" tIns="0" rIns="0" bIns="0" rtlCol="0" anchor="ctr"/>
          <a:lstStyle/>
          <a:p>
            <a:pPr indent="0" marL="0">
              <a:lnSpc>
                <a:spcPts val="1600"/>
              </a:lnSpc>
              <a:buNone/>
            </a:pPr>
            <a:r>
              <a:rPr lang="en-US" sz="1150" dirty="0">
                <a:solidFill>
                  <a:srgbClr val="5A6B7B"/>
                </a:solidFill>
                <a:latin typeface="Calibri" pitchFamily="34" charset="0"/>
                <a:ea typeface="Calibri" pitchFamily="34" charset="-122"/>
                <a:cs typeface="Calibri" pitchFamily="34" charset="-120"/>
              </a:rPr>
              <a:t>Conformal prediction gives intervals with a coverage guarantee, without assuming anything about the error distribution.</a:t>
            </a:r>
            <a:endParaRPr lang="en-US" sz="1150" dirty="0"/>
          </a:p>
        </p:txBody>
      </p:sp>
      <p:sp>
        <p:nvSpPr>
          <p:cNvPr id="19" name="Shape 17"/>
          <p:cNvSpPr/>
          <p:nvPr/>
        </p:nvSpPr>
        <p:spPr>
          <a:xfrm>
            <a:off x="8092440" y="1783080"/>
            <a:ext cx="3566160" cy="3895344"/>
          </a:xfrm>
          <a:prstGeom prst="roundRect">
            <a:avLst>
              <a:gd name="adj" fmla="val 2308"/>
            </a:avLst>
          </a:prstGeom>
          <a:solidFill>
            <a:srgbClr val="0F1E2E"/>
          </a:solidFill>
          <a:ln w="12700">
            <a:solidFill>
              <a:srgbClr val="DDE4EA"/>
            </a:solidFill>
            <a:prstDash val="solid"/>
          </a:ln>
        </p:spPr>
      </p:sp>
      <p:sp>
        <p:nvSpPr>
          <p:cNvPr id="20" name="Text 18"/>
          <p:cNvSpPr/>
          <p:nvPr/>
        </p:nvSpPr>
        <p:spPr>
          <a:xfrm>
            <a:off x="8366760" y="2011680"/>
            <a:ext cx="3017520" cy="320040"/>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Plus clinical metrics</a:t>
            </a:r>
            <a:endParaRPr lang="en-US" sz="1400" dirty="0"/>
          </a:p>
        </p:txBody>
      </p:sp>
      <p:sp>
        <p:nvSpPr>
          <p:cNvPr id="21" name="Text 19"/>
          <p:cNvSpPr/>
          <p:nvPr/>
        </p:nvSpPr>
        <p:spPr>
          <a:xfrm>
            <a:off x="8412480" y="2423160"/>
            <a:ext cx="3017520" cy="14630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Error by glycaemic zone</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Hypo / hyper event detection</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Paired Wilcoxon test</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95 % confidence intervals</a:t>
            </a:r>
            <a:endParaRPr lang="en-US" sz="1200" dirty="0"/>
          </a:p>
        </p:txBody>
      </p:sp>
      <p:sp>
        <p:nvSpPr>
          <p:cNvPr id="22" name="Text 20"/>
          <p:cNvSpPr/>
          <p:nvPr/>
        </p:nvSpPr>
        <p:spPr>
          <a:xfrm>
            <a:off x="8366760" y="4114800"/>
            <a:ext cx="3063240" cy="1097280"/>
          </a:xfrm>
          <a:prstGeom prst="rect">
            <a:avLst/>
          </a:prstGeom>
          <a:noFill/>
          <a:ln/>
        </p:spPr>
        <p:txBody>
          <a:bodyPr wrap="square" lIns="0" tIns="0" rIns="0" bIns="0" rtlCol="0" anchor="ctr"/>
          <a:lstStyle/>
          <a:p>
            <a:pPr indent="0" marL="0">
              <a:lnSpc>
                <a:spcPts val="1700"/>
              </a:lnSpc>
              <a:buNone/>
            </a:pPr>
            <a:r>
              <a:rPr lang="en-US" sz="1200" i="1" dirty="0">
                <a:solidFill>
                  <a:srgbClr val="AFC3D4"/>
                </a:solidFill>
                <a:latin typeface="Calibri" pitchFamily="34" charset="0"/>
                <a:ea typeface="Calibri" pitchFamily="34" charset="-122"/>
                <a:cs typeface="Calibri" pitchFamily="34" charset="-120"/>
              </a:rPr>
              <a:t>Because an excellent mean error can coexist with total blindness to hypoglycaemia.</a:t>
            </a:r>
            <a:endParaRPr lang="en-US" sz="1200" dirty="0"/>
          </a:p>
        </p:txBody>
      </p:sp>
      <p:sp>
        <p:nvSpPr>
          <p:cNvPr id="23" name="Text 21"/>
          <p:cNvSpPr/>
          <p:nvPr/>
        </p:nvSpPr>
        <p:spPr>
          <a:xfrm>
            <a:off x="502920" y="6327648"/>
            <a:ext cx="6400800" cy="292608"/>
          </a:xfrm>
          <a:prstGeom prst="rect">
            <a:avLst/>
          </a:prstGeom>
          <a:noFill/>
          <a:ln/>
        </p:spPr>
        <p:txBody>
          <a:bodyPr wrap="square" lIns="0" tIns="0" rIns="0" bIns="0" rtlCol="0" anchor="ctr"/>
          <a:lstStyle/>
          <a:p>
            <a:pPr indent="0" marL="0">
              <a:buNone/>
            </a:pPr>
            <a:r>
              <a:rPr lang="en-US" sz="1000" dirty="0">
                <a:solidFill>
                  <a:srgbClr val="5A6B7B"/>
                </a:solidFill>
                <a:latin typeface="Calibri" pitchFamily="34" charset="0"/>
                <a:ea typeface="Calibri" pitchFamily="34" charset="-122"/>
                <a:cs typeface="Calibri" pitchFamily="34" charset="-120"/>
              </a:rPr>
              <a:t>Seth NDINGA</a:t>
            </a:r>
            <a:endParaRPr lang="en-US" sz="1000" dirty="0"/>
          </a:p>
        </p:txBody>
      </p:sp>
      <p:sp>
        <p:nvSpPr>
          <p:cNvPr id="24" name="Text 22"/>
          <p:cNvSpPr/>
          <p:nvPr/>
        </p:nvSpPr>
        <p:spPr>
          <a:xfrm>
            <a:off x="11247120" y="6327648"/>
            <a:ext cx="457200" cy="292608"/>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731520"/>
          </a:xfrm>
          <a:prstGeom prst="rect">
            <a:avLst/>
          </a:prstGeom>
          <a:noFill/>
          <a:ln/>
        </p:spPr>
        <p:txBody>
          <a:bodyPr wrap="square" lIns="0" tIns="0" rIns="0" bIns="0" rtlCol="0" anchor="ctr"/>
          <a:lstStyle/>
          <a:p>
            <a:pPr indent="0" marL="0">
              <a:buNone/>
            </a:pPr>
            <a:r>
              <a:rPr lang="en-US" sz="3400" b="1" dirty="0">
                <a:solidFill>
                  <a:srgbClr val="0F1E2E"/>
                </a:solidFill>
                <a:latin typeface="Cambria" pitchFamily="34" charset="0"/>
                <a:ea typeface="Cambria" pitchFamily="34" charset="-122"/>
                <a:cs typeface="Cambria" pitchFamily="34" charset="-120"/>
              </a:rPr>
              <a:t>Result 1 — the advantage grows with the horizon</a:t>
            </a:r>
            <a:endParaRPr lang="en-US" sz="3400" dirty="0"/>
          </a:p>
        </p:txBody>
      </p:sp>
      <p:sp>
        <p:nvSpPr>
          <p:cNvPr id="3" name="Text 1"/>
          <p:cNvSpPr/>
          <p:nvPr/>
        </p:nvSpPr>
        <p:spPr>
          <a:xfrm>
            <a:off x="502920" y="1115568"/>
            <a:ext cx="11155680" cy="384048"/>
          </a:xfrm>
          <a:prstGeom prst="rect">
            <a:avLst/>
          </a:prstGeom>
          <a:noFill/>
          <a:ln/>
        </p:spPr>
        <p:txBody>
          <a:bodyPr wrap="square" lIns="0" tIns="0" rIns="0" bIns="0" rtlCol="0" anchor="ctr"/>
          <a:lstStyle/>
          <a:p>
            <a:pPr indent="0" marL="0">
              <a:buNone/>
            </a:pPr>
            <a:r>
              <a:rPr lang="en-US" sz="1500" dirty="0">
                <a:solidFill>
                  <a:srgbClr val="5A6B7B"/>
                </a:solidFill>
                <a:latin typeface="Calibri" pitchFamily="34" charset="0"/>
                <a:ea typeface="Calibri" pitchFamily="34" charset="-122"/>
                <a:cs typeface="Calibri" pitchFamily="34" charset="-120"/>
              </a:rPr>
              <a:t>45 virtual patients, leave-one-patient-out, HistGradientBoosting</a:t>
            </a:r>
            <a:endParaRPr lang="en-US" sz="1500" dirty="0"/>
          </a:p>
        </p:txBody>
      </p:sp>
      <p:pic>
        <p:nvPicPr>
          <p:cNvPr id="4" name="Image 0" descr="02_horizons.png">    </p:cNvPr>
          <p:cNvPicPr>
            <a:picLocks noChangeAspect="1"/>
          </p:cNvPicPr>
          <p:nvPr/>
        </p:nvPicPr>
        <p:blipFill>
          <a:blip r:embed="rId1"/>
          <a:stretch>
            <a:fillRect/>
          </a:stretch>
        </p:blipFill>
        <p:spPr>
          <a:xfrm>
            <a:off x="502920" y="1691640"/>
            <a:ext cx="11155680" cy="3191256"/>
          </a:xfrm>
          <a:prstGeom prst="rect">
            <a:avLst/>
          </a:prstGeom>
        </p:spPr>
      </p:pic>
      <p:sp>
        <p:nvSpPr>
          <p:cNvPr id="5" name="Shape 2"/>
          <p:cNvSpPr/>
          <p:nvPr/>
        </p:nvSpPr>
        <p:spPr>
          <a:xfrm>
            <a:off x="502920" y="5029200"/>
            <a:ext cx="2606040" cy="868680"/>
          </a:xfrm>
          <a:prstGeom prst="roundRect">
            <a:avLst>
              <a:gd name="adj" fmla="val 9474"/>
            </a:avLst>
          </a:prstGeom>
          <a:solidFill>
            <a:srgbClr val="F4F7FA"/>
          </a:solidFill>
          <a:ln w="12700">
            <a:solidFill>
              <a:srgbClr val="DDE4EA"/>
            </a:solidFill>
            <a:prstDash val="solid"/>
          </a:ln>
        </p:spPr>
      </p:sp>
      <p:sp>
        <p:nvSpPr>
          <p:cNvPr id="6" name="Text 3"/>
          <p:cNvSpPr/>
          <p:nvPr/>
        </p:nvSpPr>
        <p:spPr>
          <a:xfrm>
            <a:off x="502920" y="5120640"/>
            <a:ext cx="2606040" cy="438912"/>
          </a:xfrm>
          <a:prstGeom prst="rect">
            <a:avLst/>
          </a:prstGeom>
          <a:noFill/>
          <a:ln/>
        </p:spPr>
        <p:txBody>
          <a:bodyPr wrap="square" lIns="0" tIns="0" rIns="0" bIns="0" rtlCol="0" anchor="ctr"/>
          <a:lstStyle/>
          <a:p>
            <a:pPr algn="ctr" indent="0" marL="0">
              <a:buNone/>
            </a:pPr>
            <a:r>
              <a:rPr lang="en-US" sz="2300" b="1" dirty="0">
                <a:solidFill>
                  <a:srgbClr val="0F1E2E"/>
                </a:solidFill>
                <a:latin typeface="Cambria" pitchFamily="34" charset="0"/>
                <a:ea typeface="Cambria" pitchFamily="34" charset="-122"/>
                <a:cs typeface="Cambria" pitchFamily="34" charset="-120"/>
              </a:rPr>
              <a:t>+2.06</a:t>
            </a:r>
            <a:endParaRPr lang="en-US" sz="2300" dirty="0"/>
          </a:p>
        </p:txBody>
      </p:sp>
      <p:sp>
        <p:nvSpPr>
          <p:cNvPr id="7" name="Text 4"/>
          <p:cNvSpPr/>
          <p:nvPr/>
        </p:nvSpPr>
        <p:spPr>
          <a:xfrm>
            <a:off x="502920" y="5541264"/>
            <a:ext cx="2606040" cy="274320"/>
          </a:xfrm>
          <a:prstGeom prst="rect">
            <a:avLst/>
          </a:prstGeom>
          <a:noFill/>
          <a:ln/>
        </p:spPr>
        <p:txBody>
          <a:bodyPr wrap="square" lIns="0" tIns="0" rIns="0" bIns="0" rtlCol="0" anchor="ctr"/>
          <a:lstStyle/>
          <a:p>
            <a:pPr algn="ctr" indent="0" marL="0">
              <a:buNone/>
            </a:pPr>
            <a:r>
              <a:rPr lang="en-US" sz="1050" dirty="0">
                <a:solidFill>
                  <a:srgbClr val="5A6B7B"/>
                </a:solidFill>
                <a:latin typeface="Calibri" pitchFamily="34" charset="0"/>
                <a:ea typeface="Calibri" pitchFamily="34" charset="-122"/>
                <a:cs typeface="Calibri" pitchFamily="34" charset="-120"/>
              </a:rPr>
              <a:t>30 min  ·  mg/dL gained</a:t>
            </a:r>
            <a:endParaRPr lang="en-US" sz="1050" dirty="0"/>
          </a:p>
        </p:txBody>
      </p:sp>
      <p:sp>
        <p:nvSpPr>
          <p:cNvPr id="8" name="Shape 5"/>
          <p:cNvSpPr/>
          <p:nvPr/>
        </p:nvSpPr>
        <p:spPr>
          <a:xfrm>
            <a:off x="3374136" y="5029200"/>
            <a:ext cx="2606040" cy="868680"/>
          </a:xfrm>
          <a:prstGeom prst="roundRect">
            <a:avLst>
              <a:gd name="adj" fmla="val 9474"/>
            </a:avLst>
          </a:prstGeom>
          <a:solidFill>
            <a:srgbClr val="F4F7FA"/>
          </a:solidFill>
          <a:ln w="12700">
            <a:solidFill>
              <a:srgbClr val="DDE4EA"/>
            </a:solidFill>
            <a:prstDash val="solid"/>
          </a:ln>
        </p:spPr>
      </p:sp>
      <p:sp>
        <p:nvSpPr>
          <p:cNvPr id="9" name="Text 6"/>
          <p:cNvSpPr/>
          <p:nvPr/>
        </p:nvSpPr>
        <p:spPr>
          <a:xfrm>
            <a:off x="3374136" y="5120640"/>
            <a:ext cx="2606040" cy="438912"/>
          </a:xfrm>
          <a:prstGeom prst="rect">
            <a:avLst/>
          </a:prstGeom>
          <a:noFill/>
          <a:ln/>
        </p:spPr>
        <p:txBody>
          <a:bodyPr wrap="square" lIns="0" tIns="0" rIns="0" bIns="0" rtlCol="0" anchor="ctr"/>
          <a:lstStyle/>
          <a:p>
            <a:pPr algn="ctr" indent="0" marL="0">
              <a:buNone/>
            </a:pPr>
            <a:r>
              <a:rPr lang="en-US" sz="2300" b="1" dirty="0">
                <a:solidFill>
                  <a:srgbClr val="0F1E2E"/>
                </a:solidFill>
                <a:latin typeface="Cambria" pitchFamily="34" charset="0"/>
                <a:ea typeface="Cambria" pitchFamily="34" charset="-122"/>
                <a:cs typeface="Cambria" pitchFamily="34" charset="-120"/>
              </a:rPr>
              <a:t>+2.83</a:t>
            </a:r>
            <a:endParaRPr lang="en-US" sz="2300" dirty="0"/>
          </a:p>
        </p:txBody>
      </p:sp>
      <p:sp>
        <p:nvSpPr>
          <p:cNvPr id="10" name="Text 7"/>
          <p:cNvSpPr/>
          <p:nvPr/>
        </p:nvSpPr>
        <p:spPr>
          <a:xfrm>
            <a:off x="3374136" y="5541264"/>
            <a:ext cx="2606040" cy="274320"/>
          </a:xfrm>
          <a:prstGeom prst="rect">
            <a:avLst/>
          </a:prstGeom>
          <a:noFill/>
          <a:ln/>
        </p:spPr>
        <p:txBody>
          <a:bodyPr wrap="square" lIns="0" tIns="0" rIns="0" bIns="0" rtlCol="0" anchor="ctr"/>
          <a:lstStyle/>
          <a:p>
            <a:pPr algn="ctr" indent="0" marL="0">
              <a:buNone/>
            </a:pPr>
            <a:r>
              <a:rPr lang="en-US" sz="1050" dirty="0">
                <a:solidFill>
                  <a:srgbClr val="5A6B7B"/>
                </a:solidFill>
                <a:latin typeface="Calibri" pitchFamily="34" charset="0"/>
                <a:ea typeface="Calibri" pitchFamily="34" charset="-122"/>
                <a:cs typeface="Calibri" pitchFamily="34" charset="-120"/>
              </a:rPr>
              <a:t>60 min  ·  mg/dL gained</a:t>
            </a:r>
            <a:endParaRPr lang="en-US" sz="1050" dirty="0"/>
          </a:p>
        </p:txBody>
      </p:sp>
      <p:sp>
        <p:nvSpPr>
          <p:cNvPr id="11" name="Shape 8"/>
          <p:cNvSpPr/>
          <p:nvPr/>
        </p:nvSpPr>
        <p:spPr>
          <a:xfrm>
            <a:off x="6245352" y="5029200"/>
            <a:ext cx="2606040" cy="868680"/>
          </a:xfrm>
          <a:prstGeom prst="roundRect">
            <a:avLst>
              <a:gd name="adj" fmla="val 9474"/>
            </a:avLst>
          </a:prstGeom>
          <a:solidFill>
            <a:srgbClr val="F4F7FA"/>
          </a:solidFill>
          <a:ln w="12700">
            <a:solidFill>
              <a:srgbClr val="DDE4EA"/>
            </a:solidFill>
            <a:prstDash val="solid"/>
          </a:ln>
        </p:spPr>
      </p:sp>
      <p:sp>
        <p:nvSpPr>
          <p:cNvPr id="12" name="Text 9"/>
          <p:cNvSpPr/>
          <p:nvPr/>
        </p:nvSpPr>
        <p:spPr>
          <a:xfrm>
            <a:off x="6245352" y="5120640"/>
            <a:ext cx="2606040" cy="438912"/>
          </a:xfrm>
          <a:prstGeom prst="rect">
            <a:avLst/>
          </a:prstGeom>
          <a:noFill/>
          <a:ln/>
        </p:spPr>
        <p:txBody>
          <a:bodyPr wrap="square" lIns="0" tIns="0" rIns="0" bIns="0" rtlCol="0" anchor="ctr"/>
          <a:lstStyle/>
          <a:p>
            <a:pPr algn="ctr" indent="0" marL="0">
              <a:buNone/>
            </a:pPr>
            <a:r>
              <a:rPr lang="en-US" sz="2300" b="1" dirty="0">
                <a:solidFill>
                  <a:srgbClr val="0F1E2E"/>
                </a:solidFill>
                <a:latin typeface="Cambria" pitchFamily="34" charset="0"/>
                <a:ea typeface="Cambria" pitchFamily="34" charset="-122"/>
                <a:cs typeface="Cambria" pitchFamily="34" charset="-120"/>
              </a:rPr>
              <a:t>+4.19</a:t>
            </a:r>
            <a:endParaRPr lang="en-US" sz="2300" dirty="0"/>
          </a:p>
        </p:txBody>
      </p:sp>
      <p:sp>
        <p:nvSpPr>
          <p:cNvPr id="13" name="Text 10"/>
          <p:cNvSpPr/>
          <p:nvPr/>
        </p:nvSpPr>
        <p:spPr>
          <a:xfrm>
            <a:off x="6245352" y="5541264"/>
            <a:ext cx="2606040" cy="274320"/>
          </a:xfrm>
          <a:prstGeom prst="rect">
            <a:avLst/>
          </a:prstGeom>
          <a:noFill/>
          <a:ln/>
        </p:spPr>
        <p:txBody>
          <a:bodyPr wrap="square" lIns="0" tIns="0" rIns="0" bIns="0" rtlCol="0" anchor="ctr"/>
          <a:lstStyle/>
          <a:p>
            <a:pPr algn="ctr" indent="0" marL="0">
              <a:buNone/>
            </a:pPr>
            <a:r>
              <a:rPr lang="en-US" sz="1050" dirty="0">
                <a:solidFill>
                  <a:srgbClr val="5A6B7B"/>
                </a:solidFill>
                <a:latin typeface="Calibri" pitchFamily="34" charset="0"/>
                <a:ea typeface="Calibri" pitchFamily="34" charset="-122"/>
                <a:cs typeface="Calibri" pitchFamily="34" charset="-120"/>
              </a:rPr>
              <a:t>90 min  ·  mg/dL gained</a:t>
            </a:r>
            <a:endParaRPr lang="en-US" sz="1050" dirty="0"/>
          </a:p>
        </p:txBody>
      </p:sp>
      <p:sp>
        <p:nvSpPr>
          <p:cNvPr id="14" name="Shape 11"/>
          <p:cNvSpPr/>
          <p:nvPr/>
        </p:nvSpPr>
        <p:spPr>
          <a:xfrm>
            <a:off x="9116568" y="5029200"/>
            <a:ext cx="2606040" cy="868680"/>
          </a:xfrm>
          <a:prstGeom prst="roundRect">
            <a:avLst>
              <a:gd name="adj" fmla="val 9474"/>
            </a:avLst>
          </a:prstGeom>
          <a:solidFill>
            <a:srgbClr val="FDF0EA"/>
          </a:solidFill>
          <a:ln w="12700">
            <a:solidFill>
              <a:srgbClr val="DDE4EA"/>
            </a:solidFill>
            <a:prstDash val="solid"/>
          </a:ln>
        </p:spPr>
      </p:sp>
      <p:sp>
        <p:nvSpPr>
          <p:cNvPr id="15" name="Text 12"/>
          <p:cNvSpPr/>
          <p:nvPr/>
        </p:nvSpPr>
        <p:spPr>
          <a:xfrm>
            <a:off x="9116568" y="5120640"/>
            <a:ext cx="2606040" cy="438912"/>
          </a:xfrm>
          <a:prstGeom prst="rect">
            <a:avLst/>
          </a:prstGeom>
          <a:noFill/>
          <a:ln/>
        </p:spPr>
        <p:txBody>
          <a:bodyPr wrap="square" lIns="0" tIns="0" rIns="0" bIns="0" rtlCol="0" anchor="ctr"/>
          <a:lstStyle/>
          <a:p>
            <a:pPr algn="ctr" indent="0" marL="0">
              <a:buNone/>
            </a:pPr>
            <a:r>
              <a:rPr lang="en-US" sz="2300" b="1" dirty="0">
                <a:solidFill>
                  <a:srgbClr val="EB6834"/>
                </a:solidFill>
                <a:latin typeface="Cambria" pitchFamily="34" charset="0"/>
                <a:ea typeface="Cambria" pitchFamily="34" charset="-122"/>
                <a:cs typeface="Cambria" pitchFamily="34" charset="-120"/>
              </a:rPr>
              <a:t>+5.72</a:t>
            </a:r>
            <a:endParaRPr lang="en-US" sz="2300" dirty="0"/>
          </a:p>
        </p:txBody>
      </p:sp>
      <p:sp>
        <p:nvSpPr>
          <p:cNvPr id="16" name="Text 13"/>
          <p:cNvSpPr/>
          <p:nvPr/>
        </p:nvSpPr>
        <p:spPr>
          <a:xfrm>
            <a:off x="9116568" y="5541264"/>
            <a:ext cx="2606040" cy="274320"/>
          </a:xfrm>
          <a:prstGeom prst="rect">
            <a:avLst/>
          </a:prstGeom>
          <a:noFill/>
          <a:ln/>
        </p:spPr>
        <p:txBody>
          <a:bodyPr wrap="square" lIns="0" tIns="0" rIns="0" bIns="0" rtlCol="0" anchor="ctr"/>
          <a:lstStyle/>
          <a:p>
            <a:pPr algn="ctr" indent="0" marL="0">
              <a:buNone/>
            </a:pPr>
            <a:r>
              <a:rPr lang="en-US" sz="1050" dirty="0">
                <a:solidFill>
                  <a:srgbClr val="5A6B7B"/>
                </a:solidFill>
                <a:latin typeface="Calibri" pitchFamily="34" charset="0"/>
                <a:ea typeface="Calibri" pitchFamily="34" charset="-122"/>
                <a:cs typeface="Calibri" pitchFamily="34" charset="-120"/>
              </a:rPr>
              <a:t>120 min  ·  mg/dL gained</a:t>
            </a:r>
            <a:endParaRPr lang="en-US" sz="1050" dirty="0"/>
          </a:p>
        </p:txBody>
      </p:sp>
      <p:sp>
        <p:nvSpPr>
          <p:cNvPr id="17" name="Text 14"/>
          <p:cNvSpPr/>
          <p:nvPr/>
        </p:nvSpPr>
        <p:spPr>
          <a:xfrm>
            <a:off x="502920" y="5943600"/>
            <a:ext cx="11155680" cy="274320"/>
          </a:xfrm>
          <a:prstGeom prst="rect">
            <a:avLst/>
          </a:prstGeom>
          <a:noFill/>
          <a:ln/>
        </p:spPr>
        <p:txBody>
          <a:bodyPr wrap="square" lIns="0" tIns="0" rIns="0" bIns="0" rtlCol="0" anchor="ctr"/>
          <a:lstStyle/>
          <a:p>
            <a:pPr indent="0" marL="0">
              <a:buNone/>
            </a:pPr>
            <a:r>
              <a:rPr lang="en-US" sz="1100" i="1" dirty="0">
                <a:solidFill>
                  <a:srgbClr val="5A6B7B"/>
                </a:solidFill>
                <a:latin typeface="Calibri" pitchFamily="34" charset="0"/>
                <a:ea typeface="Calibri" pitchFamily="34" charset="-122"/>
                <a:cs typeface="Calibri" pitchFamily="34" charset="-120"/>
              </a:rPr>
              <a:t>All p &lt; 1e-7  ·  42 of 45 patients improved at 120 min  ·  synthetic cohort</a:t>
            </a:r>
            <a:endParaRPr lang="en-US" sz="1100" dirty="0"/>
          </a:p>
        </p:txBody>
      </p:sp>
      <p:sp>
        <p:nvSpPr>
          <p:cNvPr id="18" name="Text 15"/>
          <p:cNvSpPr/>
          <p:nvPr/>
        </p:nvSpPr>
        <p:spPr>
          <a:xfrm>
            <a:off x="502920" y="6327648"/>
            <a:ext cx="6400800" cy="292608"/>
          </a:xfrm>
          <a:prstGeom prst="rect">
            <a:avLst/>
          </a:prstGeom>
          <a:noFill/>
          <a:ln/>
        </p:spPr>
        <p:txBody>
          <a:bodyPr wrap="square" lIns="0" tIns="0" rIns="0" bIns="0" rtlCol="0" anchor="ctr"/>
          <a:lstStyle/>
          <a:p>
            <a:pPr indent="0" marL="0">
              <a:buNone/>
            </a:pPr>
            <a:r>
              <a:rPr lang="en-US" sz="1000" dirty="0">
                <a:solidFill>
                  <a:srgbClr val="5A6B7B"/>
                </a:solidFill>
                <a:latin typeface="Calibri" pitchFamily="34" charset="0"/>
                <a:ea typeface="Calibri" pitchFamily="34" charset="-122"/>
                <a:cs typeface="Calibri" pitchFamily="34" charset="-120"/>
              </a:rPr>
              <a:t>Seth NDINGA</a:t>
            </a:r>
            <a:endParaRPr lang="en-US" sz="1000" dirty="0"/>
          </a:p>
        </p:txBody>
      </p:sp>
      <p:sp>
        <p:nvSpPr>
          <p:cNvPr id="19" name="Text 16"/>
          <p:cNvSpPr/>
          <p:nvPr/>
        </p:nvSpPr>
        <p:spPr>
          <a:xfrm>
            <a:off x="11247120" y="6327648"/>
            <a:ext cx="457200" cy="292608"/>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731520"/>
          </a:xfrm>
          <a:prstGeom prst="rect">
            <a:avLst/>
          </a:prstGeom>
          <a:noFill/>
          <a:ln/>
        </p:spPr>
        <p:txBody>
          <a:bodyPr wrap="square" lIns="0" tIns="0" rIns="0" bIns="0" rtlCol="0" anchor="ctr"/>
          <a:lstStyle/>
          <a:p>
            <a:pPr indent="0" marL="0">
              <a:buNone/>
            </a:pPr>
            <a:r>
              <a:rPr lang="en-US" sz="3400" b="1" dirty="0">
                <a:solidFill>
                  <a:srgbClr val="0F1E2E"/>
                </a:solidFill>
                <a:latin typeface="Cambria" pitchFamily="34" charset="0"/>
                <a:ea typeface="Cambria" pitchFamily="34" charset="-122"/>
                <a:cs typeface="Cambria" pitchFamily="34" charset="-120"/>
              </a:rPr>
              <a:t>Result 2 — the contradiction</a:t>
            </a:r>
            <a:endParaRPr lang="en-US" sz="3400" dirty="0"/>
          </a:p>
        </p:txBody>
      </p:sp>
      <p:sp>
        <p:nvSpPr>
          <p:cNvPr id="3" name="Text 1"/>
          <p:cNvSpPr/>
          <p:nvPr/>
        </p:nvSpPr>
        <p:spPr>
          <a:xfrm>
            <a:off x="502920" y="1115568"/>
            <a:ext cx="11155680" cy="384048"/>
          </a:xfrm>
          <a:prstGeom prst="rect">
            <a:avLst/>
          </a:prstGeom>
          <a:noFill/>
          <a:ln/>
        </p:spPr>
        <p:txBody>
          <a:bodyPr wrap="square" lIns="0" tIns="0" rIns="0" bIns="0" rtlCol="0" anchor="ctr"/>
          <a:lstStyle/>
          <a:p>
            <a:pPr indent="0" marL="0">
              <a:buNone/>
            </a:pPr>
            <a:r>
              <a:rPr lang="en-US" sz="1500" dirty="0">
                <a:solidFill>
                  <a:srgbClr val="5A6B7B"/>
                </a:solidFill>
                <a:latin typeface="Calibri" pitchFamily="34" charset="0"/>
                <a:ea typeface="Calibri" pitchFamily="34" charset="-122"/>
                <a:cs typeface="Calibri" pitchFamily="34" charset="-120"/>
              </a:rPr>
              <a:t>The two metrics disagree, and the cause is measurable</a:t>
            </a:r>
            <a:endParaRPr lang="en-US" sz="1500" dirty="0"/>
          </a:p>
        </p:txBody>
      </p:sp>
      <p:pic>
        <p:nvPicPr>
          <p:cNvPr id="4" name="Image 0" descr="05_mae_vs_clinical.png">    </p:cNvPr>
          <p:cNvPicPr>
            <a:picLocks noChangeAspect="1"/>
          </p:cNvPicPr>
          <p:nvPr/>
        </p:nvPicPr>
        <p:blipFill>
          <a:blip r:embed="rId1"/>
          <a:stretch>
            <a:fillRect/>
          </a:stretch>
        </p:blipFill>
        <p:spPr>
          <a:xfrm>
            <a:off x="502920" y="1645920"/>
            <a:ext cx="11155680" cy="3191256"/>
          </a:xfrm>
          <a:prstGeom prst="rect">
            <a:avLst/>
          </a:prstGeom>
        </p:spPr>
      </p:pic>
      <p:sp>
        <p:nvSpPr>
          <p:cNvPr id="5" name="Shape 2"/>
          <p:cNvSpPr/>
          <p:nvPr/>
        </p:nvSpPr>
        <p:spPr>
          <a:xfrm>
            <a:off x="502920" y="4983480"/>
            <a:ext cx="11155680" cy="1234440"/>
          </a:xfrm>
          <a:prstGeom prst="roundRect">
            <a:avLst>
              <a:gd name="adj" fmla="val 6667"/>
            </a:avLst>
          </a:prstGeom>
          <a:solidFill>
            <a:srgbClr val="0F1E2E"/>
          </a:solidFill>
          <a:ln w="12700">
            <a:solidFill>
              <a:srgbClr val="DDE4EA"/>
            </a:solidFill>
            <a:prstDash val="solid"/>
          </a:ln>
        </p:spPr>
      </p:sp>
      <p:sp>
        <p:nvSpPr>
          <p:cNvPr id="6" name="Text 3"/>
          <p:cNvSpPr/>
          <p:nvPr/>
        </p:nvSpPr>
        <p:spPr>
          <a:xfrm>
            <a:off x="822960" y="5138928"/>
            <a:ext cx="1051560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At 120 minutes the model gains 5.72 mg/dL on the baseline — and detects only 1.7 % of hyperglycaemic events.</a:t>
            </a:r>
            <a:endParaRPr lang="en-US" sz="1550" dirty="0"/>
          </a:p>
        </p:txBody>
      </p:sp>
      <p:sp>
        <p:nvSpPr>
          <p:cNvPr id="7" name="Text 4"/>
          <p:cNvSpPr/>
          <p:nvPr/>
        </p:nvSpPr>
        <p:spPr>
          <a:xfrm>
            <a:off x="822960" y="5504688"/>
            <a:ext cx="10515600" cy="566928"/>
          </a:xfrm>
          <a:prstGeom prst="rect">
            <a:avLst/>
          </a:prstGeom>
          <a:noFill/>
          <a:ln/>
        </p:spPr>
        <p:txBody>
          <a:bodyPr wrap="square" lIns="0" tIns="0" rIns="0" bIns="0" rtlCol="0" anchor="ctr"/>
          <a:lstStyle/>
          <a:p>
            <a:pPr indent="0" marL="0">
              <a:lnSpc>
                <a:spcPts val="1700"/>
              </a:lnSpc>
              <a:buNone/>
            </a:pPr>
            <a:r>
              <a:rPr lang="en-US" sz="1200" dirty="0">
                <a:solidFill>
                  <a:srgbClr val="AFC3D4"/>
                </a:solidFill>
                <a:latin typeface="Calibri" pitchFamily="34" charset="0"/>
                <a:ea typeface="Calibri" pitchFamily="34" charset="-122"/>
                <a:cs typeface="Calibri" pitchFamily="34" charset="-120"/>
              </a:rPr>
              <a:t>The prediction spread collapses from 0.87 to 0.69 times the real spread: the model retreats to the mean. It stops daring to announce extremes — exactly the events that matter to a patient.</a:t>
            </a:r>
            <a:endParaRPr lang="en-US" sz="1200" dirty="0"/>
          </a:p>
        </p:txBody>
      </p:sp>
      <p:sp>
        <p:nvSpPr>
          <p:cNvPr id="8" name="Text 5"/>
          <p:cNvSpPr/>
          <p:nvPr/>
        </p:nvSpPr>
        <p:spPr>
          <a:xfrm>
            <a:off x="502920" y="6327648"/>
            <a:ext cx="6400800" cy="292608"/>
          </a:xfrm>
          <a:prstGeom prst="rect">
            <a:avLst/>
          </a:prstGeom>
          <a:noFill/>
          <a:ln/>
        </p:spPr>
        <p:txBody>
          <a:bodyPr wrap="square" lIns="0" tIns="0" rIns="0" bIns="0" rtlCol="0" anchor="ctr"/>
          <a:lstStyle/>
          <a:p>
            <a:pPr indent="0" marL="0">
              <a:buNone/>
            </a:pPr>
            <a:r>
              <a:rPr lang="en-US" sz="1000" dirty="0">
                <a:solidFill>
                  <a:srgbClr val="5A6B7B"/>
                </a:solidFill>
                <a:latin typeface="Calibri" pitchFamily="34" charset="0"/>
                <a:ea typeface="Calibri" pitchFamily="34" charset="-122"/>
                <a:cs typeface="Calibri" pitchFamily="34" charset="-120"/>
              </a:rPr>
              <a:t>Seth NDINGA</a:t>
            </a:r>
            <a:endParaRPr lang="en-US" sz="1000" dirty="0"/>
          </a:p>
        </p:txBody>
      </p:sp>
      <p:sp>
        <p:nvSpPr>
          <p:cNvPr id="9" name="Text 6"/>
          <p:cNvSpPr/>
          <p:nvPr/>
        </p:nvSpPr>
        <p:spPr>
          <a:xfrm>
            <a:off x="11247120" y="6327648"/>
            <a:ext cx="457200" cy="292608"/>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731520"/>
          </a:xfrm>
          <a:prstGeom prst="rect">
            <a:avLst/>
          </a:prstGeom>
          <a:noFill/>
          <a:ln/>
        </p:spPr>
        <p:txBody>
          <a:bodyPr wrap="square" lIns="0" tIns="0" rIns="0" bIns="0" rtlCol="0" anchor="ctr"/>
          <a:lstStyle/>
          <a:p>
            <a:pPr indent="0" marL="0">
              <a:buNone/>
            </a:pPr>
            <a:r>
              <a:rPr lang="en-US" sz="3400" b="1" dirty="0">
                <a:solidFill>
                  <a:srgbClr val="0F1E2E"/>
                </a:solidFill>
                <a:latin typeface="Cambria" pitchFamily="34" charset="0"/>
                <a:ea typeface="Cambria" pitchFamily="34" charset="-122"/>
                <a:cs typeface="Cambria" pitchFamily="34" charset="-120"/>
              </a:rPr>
              <a:t>Result 3 — do the metabolic concepts earn their place?</a:t>
            </a:r>
            <a:endParaRPr lang="en-US" sz="3400" dirty="0"/>
          </a:p>
        </p:txBody>
      </p:sp>
      <p:sp>
        <p:nvSpPr>
          <p:cNvPr id="3" name="Text 1"/>
          <p:cNvSpPr/>
          <p:nvPr/>
        </p:nvSpPr>
        <p:spPr>
          <a:xfrm>
            <a:off x="502920" y="1115568"/>
            <a:ext cx="11155680" cy="384048"/>
          </a:xfrm>
          <a:prstGeom prst="rect">
            <a:avLst/>
          </a:prstGeom>
          <a:noFill/>
          <a:ln/>
        </p:spPr>
        <p:txBody>
          <a:bodyPr wrap="square" lIns="0" tIns="0" rIns="0" bIns="0" rtlCol="0" anchor="ctr"/>
          <a:lstStyle/>
          <a:p>
            <a:pPr indent="0" marL="0">
              <a:buNone/>
            </a:pPr>
            <a:r>
              <a:rPr lang="en-US" sz="1500" dirty="0">
                <a:solidFill>
                  <a:srgbClr val="5A6B7B"/>
                </a:solidFill>
                <a:latin typeface="Calibri" pitchFamily="34" charset="0"/>
                <a:ea typeface="Calibri" pitchFamily="34" charset="-122"/>
                <a:cs typeface="Calibri" pitchFamily="34" charset="-120"/>
              </a:rPr>
              <a:t>Removing them one group at a time is the experiment that justifies layer 1</a:t>
            </a:r>
            <a:endParaRPr lang="en-US" sz="1500" dirty="0"/>
          </a:p>
        </p:txBody>
      </p:sp>
      <p:pic>
        <p:nvPicPr>
          <p:cNvPr id="4" name="Image 0" descr="03_ablation.png">    </p:cNvPr>
          <p:cNvPicPr>
            <a:picLocks noChangeAspect="1"/>
          </p:cNvPicPr>
          <p:nvPr/>
        </p:nvPicPr>
        <p:blipFill>
          <a:blip r:embed="rId1"/>
          <a:stretch>
            <a:fillRect/>
          </a:stretch>
        </p:blipFill>
        <p:spPr>
          <a:xfrm>
            <a:off x="502920" y="1737360"/>
            <a:ext cx="6949440" cy="2532888"/>
          </a:xfrm>
          <a:prstGeom prst="rect">
            <a:avLst/>
          </a:prstGeom>
        </p:spPr>
      </p:pic>
      <p:sp>
        <p:nvSpPr>
          <p:cNvPr id="5" name="Shape 2"/>
          <p:cNvSpPr/>
          <p:nvPr/>
        </p:nvSpPr>
        <p:spPr>
          <a:xfrm>
            <a:off x="7726680" y="1737360"/>
            <a:ext cx="3931920" cy="2532888"/>
          </a:xfrm>
          <a:prstGeom prst="roundRect">
            <a:avLst>
              <a:gd name="adj" fmla="val 3249"/>
            </a:avLst>
          </a:prstGeom>
          <a:solidFill>
            <a:srgbClr val="F4F7FA"/>
          </a:solidFill>
          <a:ln w="12700">
            <a:solidFill>
              <a:srgbClr val="DDE4EA"/>
            </a:solidFill>
            <a:prstDash val="solid"/>
          </a:ln>
        </p:spPr>
      </p:sp>
      <p:sp>
        <p:nvSpPr>
          <p:cNvPr id="6" name="Text 3"/>
          <p:cNvSpPr/>
          <p:nvPr/>
        </p:nvSpPr>
        <p:spPr>
          <a:xfrm>
            <a:off x="8001000" y="1874520"/>
            <a:ext cx="3383280" cy="274320"/>
          </a:xfrm>
          <a:prstGeom prst="rect">
            <a:avLst/>
          </a:prstGeom>
          <a:noFill/>
          <a:ln/>
        </p:spPr>
        <p:txBody>
          <a:bodyPr wrap="square" lIns="0" tIns="0" rIns="0" bIns="0" rtlCol="0" anchor="ctr"/>
          <a:lstStyle/>
          <a:p>
            <a:pPr indent="0" marL="0">
              <a:buNone/>
            </a:pPr>
            <a:r>
              <a:rPr lang="en-US" sz="1100" b="1" dirty="0">
                <a:solidFill>
                  <a:srgbClr val="5A6B7B"/>
                </a:solidFill>
                <a:latin typeface="Calibri" pitchFamily="34" charset="0"/>
                <a:ea typeface="Calibri" pitchFamily="34" charset="-122"/>
                <a:cs typeface="Calibri" pitchFamily="34" charset="-120"/>
              </a:rPr>
              <a:t>Mean absolute error (mg/dL)</a:t>
            </a:r>
            <a:endParaRPr lang="en-US" sz="1100" dirty="0"/>
          </a:p>
        </p:txBody>
      </p:sp>
      <p:sp>
        <p:nvSpPr>
          <p:cNvPr id="7" name="Text 4"/>
          <p:cNvSpPr/>
          <p:nvPr/>
        </p:nvSpPr>
        <p:spPr>
          <a:xfrm>
            <a:off x="8001000" y="2212848"/>
            <a:ext cx="2286000" cy="292608"/>
          </a:xfrm>
          <a:prstGeom prst="rect">
            <a:avLst/>
          </a:prstGeom>
          <a:noFill/>
          <a:ln/>
        </p:spPr>
        <p:txBody>
          <a:bodyPr wrap="square" lIns="0" tIns="0" rIns="0" bIns="0" rtlCol="0" anchor="ctr"/>
          <a:lstStyle/>
          <a:p>
            <a:pPr indent="0" marL="0">
              <a:buNone/>
            </a:pPr>
            <a:r>
              <a:rPr lang="en-US" sz="1200" dirty="0">
                <a:solidFill>
                  <a:srgbClr val="0F1E2E"/>
                </a:solidFill>
                <a:latin typeface="Calibri" pitchFamily="34" charset="0"/>
                <a:ea typeface="Calibri" pitchFamily="34" charset="-122"/>
                <a:cs typeface="Calibri" pitchFamily="34" charset="-120"/>
              </a:rPr>
              <a:t>Glucose history only</a:t>
            </a:r>
            <a:endParaRPr lang="en-US" sz="1200" dirty="0"/>
          </a:p>
        </p:txBody>
      </p:sp>
      <p:sp>
        <p:nvSpPr>
          <p:cNvPr id="8" name="Text 5"/>
          <p:cNvSpPr/>
          <p:nvPr/>
        </p:nvSpPr>
        <p:spPr>
          <a:xfrm>
            <a:off x="10287000" y="2212848"/>
            <a:ext cx="1097280" cy="292608"/>
          </a:xfrm>
          <a:prstGeom prst="rect">
            <a:avLst/>
          </a:prstGeom>
          <a:noFill/>
          <a:ln/>
        </p:spPr>
        <p:txBody>
          <a:bodyPr wrap="square" lIns="0" tIns="0" rIns="0" bIns="0" rtlCol="0" anchor="ctr"/>
          <a:lstStyle/>
          <a:p>
            <a:pPr algn="r" indent="0" marL="0">
              <a:buNone/>
            </a:pPr>
            <a:r>
              <a:rPr lang="en-US" sz="1500" b="1" dirty="0">
                <a:solidFill>
                  <a:srgbClr val="5A6B7B"/>
                </a:solidFill>
                <a:latin typeface="Cambria" pitchFamily="34" charset="0"/>
                <a:ea typeface="Cambria" pitchFamily="34" charset="-122"/>
                <a:cs typeface="Cambria" pitchFamily="34" charset="-120"/>
              </a:rPr>
              <a:t>19.00</a:t>
            </a:r>
            <a:endParaRPr lang="en-US" sz="1500" dirty="0"/>
          </a:p>
        </p:txBody>
      </p:sp>
      <p:sp>
        <p:nvSpPr>
          <p:cNvPr id="9" name="Text 6"/>
          <p:cNvSpPr/>
          <p:nvPr/>
        </p:nvSpPr>
        <p:spPr>
          <a:xfrm>
            <a:off x="8001000" y="2715768"/>
            <a:ext cx="2286000" cy="292608"/>
          </a:xfrm>
          <a:prstGeom prst="rect">
            <a:avLst/>
          </a:prstGeom>
          <a:noFill/>
          <a:ln/>
        </p:spPr>
        <p:txBody>
          <a:bodyPr wrap="square" lIns="0" tIns="0" rIns="0" bIns="0" rtlCol="0" anchor="ctr"/>
          <a:lstStyle/>
          <a:p>
            <a:pPr indent="0" marL="0">
              <a:buNone/>
            </a:pPr>
            <a:r>
              <a:rPr lang="en-US" sz="1200" dirty="0">
                <a:solidFill>
                  <a:srgbClr val="0F1E2E"/>
                </a:solidFill>
                <a:latin typeface="Calibri" pitchFamily="34" charset="0"/>
                <a:ea typeface="Calibri" pitchFamily="34" charset="-122"/>
                <a:cs typeface="Calibri" pitchFamily="34" charset="-120"/>
              </a:rPr>
              <a:t>+ meals</a:t>
            </a:r>
            <a:endParaRPr lang="en-US" sz="1200" dirty="0"/>
          </a:p>
        </p:txBody>
      </p:sp>
      <p:sp>
        <p:nvSpPr>
          <p:cNvPr id="10" name="Text 7"/>
          <p:cNvSpPr/>
          <p:nvPr/>
        </p:nvSpPr>
        <p:spPr>
          <a:xfrm>
            <a:off x="10287000" y="2715768"/>
            <a:ext cx="1097280" cy="292608"/>
          </a:xfrm>
          <a:prstGeom prst="rect">
            <a:avLst/>
          </a:prstGeom>
          <a:noFill/>
          <a:ln/>
        </p:spPr>
        <p:txBody>
          <a:bodyPr wrap="square" lIns="0" tIns="0" rIns="0" bIns="0" rtlCol="0" anchor="ctr"/>
          <a:lstStyle/>
          <a:p>
            <a:pPr algn="r" indent="0" marL="0">
              <a:buNone/>
            </a:pPr>
            <a:r>
              <a:rPr lang="en-US" sz="1500" b="1" dirty="0">
                <a:solidFill>
                  <a:srgbClr val="2A78D6"/>
                </a:solidFill>
                <a:latin typeface="Cambria" pitchFamily="34" charset="0"/>
                <a:ea typeface="Cambria" pitchFamily="34" charset="-122"/>
                <a:cs typeface="Cambria" pitchFamily="34" charset="-120"/>
              </a:rPr>
              <a:t>13.81</a:t>
            </a:r>
            <a:endParaRPr lang="en-US" sz="1500" dirty="0"/>
          </a:p>
        </p:txBody>
      </p:sp>
      <p:sp>
        <p:nvSpPr>
          <p:cNvPr id="11" name="Text 8"/>
          <p:cNvSpPr/>
          <p:nvPr/>
        </p:nvSpPr>
        <p:spPr>
          <a:xfrm>
            <a:off x="8001000" y="3218688"/>
            <a:ext cx="2286000" cy="292608"/>
          </a:xfrm>
          <a:prstGeom prst="rect">
            <a:avLst/>
          </a:prstGeom>
          <a:noFill/>
          <a:ln/>
        </p:spPr>
        <p:txBody>
          <a:bodyPr wrap="square" lIns="0" tIns="0" rIns="0" bIns="0" rtlCol="0" anchor="ctr"/>
          <a:lstStyle/>
          <a:p>
            <a:pPr indent="0" marL="0">
              <a:buNone/>
            </a:pPr>
            <a:r>
              <a:rPr lang="en-US" sz="1200" dirty="0">
                <a:solidFill>
                  <a:srgbClr val="0F1E2E"/>
                </a:solidFill>
                <a:latin typeface="Calibri" pitchFamily="34" charset="0"/>
                <a:ea typeface="Calibri" pitchFamily="34" charset="-122"/>
                <a:cs typeface="Calibri" pitchFamily="34" charset="-120"/>
              </a:rPr>
              <a:t>+ activity</a:t>
            </a:r>
            <a:endParaRPr lang="en-US" sz="1200" dirty="0"/>
          </a:p>
        </p:txBody>
      </p:sp>
      <p:sp>
        <p:nvSpPr>
          <p:cNvPr id="12" name="Text 9"/>
          <p:cNvSpPr/>
          <p:nvPr/>
        </p:nvSpPr>
        <p:spPr>
          <a:xfrm>
            <a:off x="10287000" y="3218688"/>
            <a:ext cx="1097280" cy="292608"/>
          </a:xfrm>
          <a:prstGeom prst="rect">
            <a:avLst/>
          </a:prstGeom>
          <a:noFill/>
          <a:ln/>
        </p:spPr>
        <p:txBody>
          <a:bodyPr wrap="square" lIns="0" tIns="0" rIns="0" bIns="0" rtlCol="0" anchor="ctr"/>
          <a:lstStyle/>
          <a:p>
            <a:pPr algn="r" indent="0" marL="0">
              <a:buNone/>
            </a:pPr>
            <a:r>
              <a:rPr lang="en-US" sz="1500" b="1" dirty="0">
                <a:solidFill>
                  <a:srgbClr val="2A78D6"/>
                </a:solidFill>
                <a:latin typeface="Cambria" pitchFamily="34" charset="0"/>
                <a:ea typeface="Cambria" pitchFamily="34" charset="-122"/>
                <a:cs typeface="Cambria" pitchFamily="34" charset="-120"/>
              </a:rPr>
              <a:t>12.84</a:t>
            </a:r>
            <a:endParaRPr lang="en-US" sz="1500" dirty="0"/>
          </a:p>
        </p:txBody>
      </p:sp>
      <p:sp>
        <p:nvSpPr>
          <p:cNvPr id="13" name="Text 10"/>
          <p:cNvSpPr/>
          <p:nvPr/>
        </p:nvSpPr>
        <p:spPr>
          <a:xfrm>
            <a:off x="8001000" y="3721608"/>
            <a:ext cx="2286000" cy="292608"/>
          </a:xfrm>
          <a:prstGeom prst="rect">
            <a:avLst/>
          </a:prstGeom>
          <a:noFill/>
          <a:ln/>
        </p:spPr>
        <p:txBody>
          <a:bodyPr wrap="square" lIns="0" tIns="0" rIns="0" bIns="0" rtlCol="0" anchor="ctr"/>
          <a:lstStyle/>
          <a:p>
            <a:pPr indent="0" marL="0">
              <a:buNone/>
            </a:pPr>
            <a:r>
              <a:rPr lang="en-US" sz="1200" dirty="0">
                <a:solidFill>
                  <a:srgbClr val="0F1E2E"/>
                </a:solidFill>
                <a:latin typeface="Calibri" pitchFamily="34" charset="0"/>
                <a:ea typeface="Calibri" pitchFamily="34" charset="-122"/>
                <a:cs typeface="Calibri" pitchFamily="34" charset="-120"/>
              </a:rPr>
              <a:t>+ modulators</a:t>
            </a:r>
            <a:endParaRPr lang="en-US" sz="1200" dirty="0"/>
          </a:p>
        </p:txBody>
      </p:sp>
      <p:sp>
        <p:nvSpPr>
          <p:cNvPr id="14" name="Text 11"/>
          <p:cNvSpPr/>
          <p:nvPr/>
        </p:nvSpPr>
        <p:spPr>
          <a:xfrm>
            <a:off x="10287000" y="3721608"/>
            <a:ext cx="1097280" cy="292608"/>
          </a:xfrm>
          <a:prstGeom prst="rect">
            <a:avLst/>
          </a:prstGeom>
          <a:noFill/>
          <a:ln/>
        </p:spPr>
        <p:txBody>
          <a:bodyPr wrap="square" lIns="0" tIns="0" rIns="0" bIns="0" rtlCol="0" anchor="ctr"/>
          <a:lstStyle/>
          <a:p>
            <a:pPr algn="r" indent="0" marL="0">
              <a:buNone/>
            </a:pPr>
            <a:r>
              <a:rPr lang="en-US" sz="1500" b="1" dirty="0">
                <a:solidFill>
                  <a:srgbClr val="1BAF7A"/>
                </a:solidFill>
                <a:latin typeface="Cambria" pitchFamily="34" charset="0"/>
                <a:ea typeface="Cambria" pitchFamily="34" charset="-122"/>
                <a:cs typeface="Cambria" pitchFamily="34" charset="-120"/>
              </a:rPr>
              <a:t>12.51</a:t>
            </a:r>
            <a:endParaRPr lang="en-US" sz="1500" dirty="0"/>
          </a:p>
        </p:txBody>
      </p:sp>
      <p:sp>
        <p:nvSpPr>
          <p:cNvPr id="15" name="Shape 12"/>
          <p:cNvSpPr/>
          <p:nvPr/>
        </p:nvSpPr>
        <p:spPr>
          <a:xfrm>
            <a:off x="502920" y="4434840"/>
            <a:ext cx="11155680" cy="1234440"/>
          </a:xfrm>
          <a:prstGeom prst="roundRect">
            <a:avLst>
              <a:gd name="adj" fmla="val 6667"/>
            </a:avLst>
          </a:prstGeom>
          <a:solidFill>
            <a:srgbClr val="FDF0EA"/>
          </a:solidFill>
          <a:ln w="12700">
            <a:solidFill>
              <a:srgbClr val="DDE4EA"/>
            </a:solidFill>
            <a:prstDash val="solid"/>
          </a:ln>
        </p:spPr>
      </p:sp>
      <p:sp>
        <p:nvSpPr>
          <p:cNvPr id="16" name="Text 13"/>
          <p:cNvSpPr/>
          <p:nvPr/>
        </p:nvSpPr>
        <p:spPr>
          <a:xfrm>
            <a:off x="822960" y="4572000"/>
            <a:ext cx="10515600" cy="347472"/>
          </a:xfrm>
          <a:prstGeom prst="rect">
            <a:avLst/>
          </a:prstGeom>
          <a:noFill/>
          <a:ln/>
        </p:spPr>
        <p:txBody>
          <a:bodyPr wrap="square" lIns="0" tIns="0" rIns="0" bIns="0" rtlCol="0" anchor="ctr"/>
          <a:lstStyle/>
          <a:p>
            <a:pPr indent="0" marL="0">
              <a:buNone/>
            </a:pPr>
            <a:r>
              <a:rPr lang="en-US" sz="1500" b="1" dirty="0">
                <a:solidFill>
                  <a:srgbClr val="0F1E2E"/>
                </a:solidFill>
                <a:latin typeface="Calibri" pitchFamily="34" charset="0"/>
                <a:ea typeface="Calibri" pitchFamily="34" charset="-122"/>
                <a:cs typeface="Calibri" pitchFamily="34" charset="-120"/>
              </a:rPr>
              <a:t>Concepts cut the error by 34 % — but on synthetic data this is partly circular.</a:t>
            </a:r>
            <a:endParaRPr lang="en-US" sz="1500" dirty="0"/>
          </a:p>
        </p:txBody>
      </p:sp>
      <p:sp>
        <p:nvSpPr>
          <p:cNvPr id="17" name="Text 14"/>
          <p:cNvSpPr/>
          <p:nvPr/>
        </p:nvSpPr>
        <p:spPr>
          <a:xfrm>
            <a:off x="822960" y="4937760"/>
            <a:ext cx="10515600" cy="621792"/>
          </a:xfrm>
          <a:prstGeom prst="rect">
            <a:avLst/>
          </a:prstGeom>
          <a:noFill/>
          <a:ln/>
        </p:spPr>
        <p:txBody>
          <a:bodyPr wrap="square" lIns="0" tIns="0" rIns="0" bIns="0" rtlCol="0" anchor="ctr"/>
          <a:lstStyle/>
          <a:p>
            <a:pPr indent="0" marL="0">
              <a:lnSpc>
                <a:spcPts val="1600"/>
              </a:lnSpc>
              <a:buNone/>
            </a:pPr>
            <a:r>
              <a:rPr lang="en-US" sz="1200" dirty="0">
                <a:solidFill>
                  <a:srgbClr val="5A6B7B"/>
                </a:solidFill>
                <a:latin typeface="Calibri" pitchFamily="34" charset="0"/>
                <a:ea typeface="Calibri" pitchFamily="34" charset="-122"/>
                <a:cs typeface="Calibri" pitchFamily="34" charset="-120"/>
              </a:rPr>
              <a:t>Our synthetic glucose is generated from the very concepts the model receives, so it was always going to help. This experiment proves the pipeline detects a signal when one exists. Whether the concepts genuinely help is the decisive experiment — and it needs real data.</a:t>
            </a:r>
            <a:endParaRPr lang="en-US" sz="1200" dirty="0"/>
          </a:p>
        </p:txBody>
      </p:sp>
      <p:sp>
        <p:nvSpPr>
          <p:cNvPr id="18" name="Text 15"/>
          <p:cNvSpPr/>
          <p:nvPr/>
        </p:nvSpPr>
        <p:spPr>
          <a:xfrm>
            <a:off x="502920" y="6327648"/>
            <a:ext cx="6400800" cy="292608"/>
          </a:xfrm>
          <a:prstGeom prst="rect">
            <a:avLst/>
          </a:prstGeom>
          <a:noFill/>
          <a:ln/>
        </p:spPr>
        <p:txBody>
          <a:bodyPr wrap="square" lIns="0" tIns="0" rIns="0" bIns="0" rtlCol="0" anchor="ctr"/>
          <a:lstStyle/>
          <a:p>
            <a:pPr indent="0" marL="0">
              <a:buNone/>
            </a:pPr>
            <a:r>
              <a:rPr lang="en-US" sz="1000" dirty="0">
                <a:solidFill>
                  <a:srgbClr val="5A6B7B"/>
                </a:solidFill>
                <a:latin typeface="Calibri" pitchFamily="34" charset="0"/>
                <a:ea typeface="Calibri" pitchFamily="34" charset="-122"/>
                <a:cs typeface="Calibri" pitchFamily="34" charset="-120"/>
              </a:rPr>
              <a:t>Jean Direl NZE</a:t>
            </a:r>
            <a:endParaRPr lang="en-US" sz="1000" dirty="0"/>
          </a:p>
        </p:txBody>
      </p:sp>
      <p:sp>
        <p:nvSpPr>
          <p:cNvPr id="19" name="Text 16"/>
          <p:cNvSpPr/>
          <p:nvPr/>
        </p:nvSpPr>
        <p:spPr>
          <a:xfrm>
            <a:off x="11247120" y="6327648"/>
            <a:ext cx="457200" cy="292608"/>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731520"/>
          </a:xfrm>
          <a:prstGeom prst="rect">
            <a:avLst/>
          </a:prstGeom>
          <a:noFill/>
          <a:ln/>
        </p:spPr>
        <p:txBody>
          <a:bodyPr wrap="square" lIns="0" tIns="0" rIns="0" bIns="0" rtlCol="0" anchor="ctr"/>
          <a:lstStyle/>
          <a:p>
            <a:pPr indent="0" marL="0">
              <a:buNone/>
            </a:pPr>
            <a:r>
              <a:rPr lang="en-US" sz="3400" b="1" dirty="0">
                <a:solidFill>
                  <a:srgbClr val="0F1E2E"/>
                </a:solidFill>
                <a:latin typeface="Cambria" pitchFamily="34" charset="0"/>
                <a:ea typeface="Cambria" pitchFamily="34" charset="-122"/>
                <a:cs typeface="Cambria" pitchFamily="34" charset="-120"/>
              </a:rPr>
              <a:t>What we cannot claim</a:t>
            </a:r>
            <a:endParaRPr lang="en-US" sz="3400" dirty="0"/>
          </a:p>
        </p:txBody>
      </p:sp>
      <p:sp>
        <p:nvSpPr>
          <p:cNvPr id="3" name="Text 1"/>
          <p:cNvSpPr/>
          <p:nvPr/>
        </p:nvSpPr>
        <p:spPr>
          <a:xfrm>
            <a:off x="502920" y="1115568"/>
            <a:ext cx="11155680" cy="384048"/>
          </a:xfrm>
          <a:prstGeom prst="rect">
            <a:avLst/>
          </a:prstGeom>
          <a:noFill/>
          <a:ln/>
        </p:spPr>
        <p:txBody>
          <a:bodyPr wrap="square" lIns="0" tIns="0" rIns="0" bIns="0" rtlCol="0" anchor="ctr"/>
          <a:lstStyle/>
          <a:p>
            <a:pPr indent="0" marL="0">
              <a:buNone/>
            </a:pPr>
            <a:r>
              <a:rPr lang="en-US" sz="1500" dirty="0">
                <a:solidFill>
                  <a:srgbClr val="5A6B7B"/>
                </a:solidFill>
                <a:latin typeface="Calibri" pitchFamily="34" charset="0"/>
                <a:ea typeface="Calibri" pitchFamily="34" charset="-122"/>
                <a:cs typeface="Calibri" pitchFamily="34" charset="-120"/>
              </a:rPr>
              <a:t>Stating this ourselves is part of the method</a:t>
            </a:r>
            <a:endParaRPr lang="en-US" sz="1500" dirty="0"/>
          </a:p>
        </p:txBody>
      </p:sp>
      <p:sp>
        <p:nvSpPr>
          <p:cNvPr id="4" name="Shape 2"/>
          <p:cNvSpPr/>
          <p:nvPr/>
        </p:nvSpPr>
        <p:spPr>
          <a:xfrm>
            <a:off x="502920" y="1783080"/>
            <a:ext cx="5440680" cy="1371600"/>
          </a:xfrm>
          <a:prstGeom prst="roundRect">
            <a:avLst>
              <a:gd name="adj" fmla="val 6000"/>
            </a:avLst>
          </a:prstGeom>
          <a:solidFill>
            <a:srgbClr val="F4F7FA"/>
          </a:solidFill>
          <a:ln w="12700">
            <a:solidFill>
              <a:srgbClr val="DDE4EA"/>
            </a:solidFill>
            <a:prstDash val="solid"/>
          </a:ln>
        </p:spPr>
      </p:sp>
      <p:sp>
        <p:nvSpPr>
          <p:cNvPr id="5" name="Shape 3"/>
          <p:cNvSpPr/>
          <p:nvPr/>
        </p:nvSpPr>
        <p:spPr>
          <a:xfrm>
            <a:off x="758952" y="2039112"/>
            <a:ext cx="329184" cy="329184"/>
          </a:xfrm>
          <a:prstGeom prst="ellipse">
            <a:avLst/>
          </a:prstGeom>
          <a:solidFill>
            <a:srgbClr val="EB6834"/>
          </a:solidFill>
          <a:ln/>
        </p:spPr>
      </p:sp>
      <p:sp>
        <p:nvSpPr>
          <p:cNvPr id="6" name="Text 4"/>
          <p:cNvSpPr/>
          <p:nvPr/>
        </p:nvSpPr>
        <p:spPr>
          <a:xfrm>
            <a:off x="758952" y="203911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234440" y="2002536"/>
            <a:ext cx="4480560" cy="292608"/>
          </a:xfrm>
          <a:prstGeom prst="rect">
            <a:avLst/>
          </a:prstGeom>
          <a:noFill/>
          <a:ln/>
        </p:spPr>
        <p:txBody>
          <a:bodyPr wrap="square" lIns="0" tIns="0" rIns="0" bIns="0" rtlCol="0" anchor="ctr"/>
          <a:lstStyle/>
          <a:p>
            <a:pPr indent="0" marL="0">
              <a:buNone/>
            </a:pPr>
            <a:r>
              <a:rPr lang="en-US" sz="1500" b="1" dirty="0">
                <a:solidFill>
                  <a:srgbClr val="0F1E2E"/>
                </a:solidFill>
                <a:latin typeface="Calibri" pitchFamily="34" charset="0"/>
                <a:ea typeface="Calibri" pitchFamily="34" charset="-122"/>
                <a:cs typeface="Calibri" pitchFamily="34" charset="-120"/>
              </a:rPr>
              <a:t>Synthetic data</a:t>
            </a:r>
            <a:endParaRPr lang="en-US" sz="1500" dirty="0"/>
          </a:p>
        </p:txBody>
      </p:sp>
      <p:sp>
        <p:nvSpPr>
          <p:cNvPr id="8" name="Text 6"/>
          <p:cNvSpPr/>
          <p:nvPr/>
        </p:nvSpPr>
        <p:spPr>
          <a:xfrm>
            <a:off x="1234440" y="2331720"/>
            <a:ext cx="4480560" cy="713232"/>
          </a:xfrm>
          <a:prstGeom prst="rect">
            <a:avLst/>
          </a:prstGeom>
          <a:noFill/>
          <a:ln/>
        </p:spPr>
        <p:txBody>
          <a:bodyPr wrap="square" lIns="0" tIns="0" rIns="0" bIns="0" rtlCol="0" anchor="ctr"/>
          <a:lstStyle/>
          <a:p>
            <a:pPr indent="0" marL="0">
              <a:lnSpc>
                <a:spcPts val="1600"/>
              </a:lnSpc>
              <a:buNone/>
            </a:pPr>
            <a:r>
              <a:rPr lang="en-US" sz="1150" dirty="0">
                <a:solidFill>
                  <a:srgbClr val="5A6B7B"/>
                </a:solidFill>
                <a:latin typeface="Calibri" pitchFamily="34" charset="0"/>
                <a:ea typeface="Calibri" pitchFamily="34" charset="-122"/>
                <a:cs typeface="Calibri" pitchFamily="34" charset="-120"/>
              </a:rPr>
              <a:t>No real patient was used. These results validate the software and the protocol, not physiology.</a:t>
            </a:r>
            <a:endParaRPr lang="en-US" sz="1150" dirty="0"/>
          </a:p>
        </p:txBody>
      </p:sp>
      <p:sp>
        <p:nvSpPr>
          <p:cNvPr id="9" name="Shape 7"/>
          <p:cNvSpPr/>
          <p:nvPr/>
        </p:nvSpPr>
        <p:spPr>
          <a:xfrm>
            <a:off x="6309360" y="1783080"/>
            <a:ext cx="5440680" cy="1371600"/>
          </a:xfrm>
          <a:prstGeom prst="roundRect">
            <a:avLst>
              <a:gd name="adj" fmla="val 6000"/>
            </a:avLst>
          </a:prstGeom>
          <a:solidFill>
            <a:srgbClr val="F4F7FA"/>
          </a:solidFill>
          <a:ln w="12700">
            <a:solidFill>
              <a:srgbClr val="DDE4EA"/>
            </a:solidFill>
            <a:prstDash val="solid"/>
          </a:ln>
        </p:spPr>
      </p:sp>
      <p:sp>
        <p:nvSpPr>
          <p:cNvPr id="10" name="Shape 8"/>
          <p:cNvSpPr/>
          <p:nvPr/>
        </p:nvSpPr>
        <p:spPr>
          <a:xfrm>
            <a:off x="6565392" y="2039112"/>
            <a:ext cx="329184" cy="329184"/>
          </a:xfrm>
          <a:prstGeom prst="ellipse">
            <a:avLst/>
          </a:prstGeom>
          <a:solidFill>
            <a:srgbClr val="EB6834"/>
          </a:solidFill>
          <a:ln/>
        </p:spPr>
      </p:sp>
      <p:sp>
        <p:nvSpPr>
          <p:cNvPr id="11" name="Text 9"/>
          <p:cNvSpPr/>
          <p:nvPr/>
        </p:nvSpPr>
        <p:spPr>
          <a:xfrm>
            <a:off x="6565392" y="203911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7040880" y="2002536"/>
            <a:ext cx="4480560" cy="292608"/>
          </a:xfrm>
          <a:prstGeom prst="rect">
            <a:avLst/>
          </a:prstGeom>
          <a:noFill/>
          <a:ln/>
        </p:spPr>
        <p:txBody>
          <a:bodyPr wrap="square" lIns="0" tIns="0" rIns="0" bIns="0" rtlCol="0" anchor="ctr"/>
          <a:lstStyle/>
          <a:p>
            <a:pPr indent="0" marL="0">
              <a:buNone/>
            </a:pPr>
            <a:r>
              <a:rPr lang="en-US" sz="1500" b="1" dirty="0">
                <a:solidFill>
                  <a:srgbClr val="0F1E2E"/>
                </a:solidFill>
                <a:latin typeface="Calibri" pitchFamily="34" charset="0"/>
                <a:ea typeface="Calibri" pitchFamily="34" charset="-122"/>
                <a:cs typeface="Calibri" pitchFamily="34" charset="-120"/>
              </a:rPr>
              <a:t>An estimation chain</a:t>
            </a:r>
            <a:endParaRPr lang="en-US" sz="1500" dirty="0"/>
          </a:p>
        </p:txBody>
      </p:sp>
      <p:sp>
        <p:nvSpPr>
          <p:cNvPr id="13" name="Text 11"/>
          <p:cNvSpPr/>
          <p:nvPr/>
        </p:nvSpPr>
        <p:spPr>
          <a:xfrm>
            <a:off x="7040880" y="2331720"/>
            <a:ext cx="4480560" cy="713232"/>
          </a:xfrm>
          <a:prstGeom prst="rect">
            <a:avLst/>
          </a:prstGeom>
          <a:noFill/>
          <a:ln/>
        </p:spPr>
        <p:txBody>
          <a:bodyPr wrap="square" lIns="0" tIns="0" rIns="0" bIns="0" rtlCol="0" anchor="ctr"/>
          <a:lstStyle/>
          <a:p>
            <a:pPr indent="0" marL="0">
              <a:lnSpc>
                <a:spcPts val="1600"/>
              </a:lnSpc>
              <a:buNone/>
            </a:pPr>
            <a:r>
              <a:rPr lang="en-US" sz="1150" dirty="0">
                <a:solidFill>
                  <a:srgbClr val="5A6B7B"/>
                </a:solidFill>
                <a:latin typeface="Calibri" pitchFamily="34" charset="0"/>
                <a:ea typeface="Calibri" pitchFamily="34" charset="-122"/>
                <a:cs typeface="Calibri" pitchFamily="34" charset="-120"/>
              </a:rPr>
              <a:t>VCO2 is never measured outside a lab, so substrate partitioning carries about 25 % uncertainty — which we display rather than hide.</a:t>
            </a:r>
            <a:endParaRPr lang="en-US" sz="1150" dirty="0"/>
          </a:p>
        </p:txBody>
      </p:sp>
      <p:sp>
        <p:nvSpPr>
          <p:cNvPr id="14" name="Shape 12"/>
          <p:cNvSpPr/>
          <p:nvPr/>
        </p:nvSpPr>
        <p:spPr>
          <a:xfrm>
            <a:off x="502920" y="3383280"/>
            <a:ext cx="5440680" cy="1371600"/>
          </a:xfrm>
          <a:prstGeom prst="roundRect">
            <a:avLst>
              <a:gd name="adj" fmla="val 6000"/>
            </a:avLst>
          </a:prstGeom>
          <a:solidFill>
            <a:srgbClr val="F4F7FA"/>
          </a:solidFill>
          <a:ln w="12700">
            <a:solidFill>
              <a:srgbClr val="DDE4EA"/>
            </a:solidFill>
            <a:prstDash val="solid"/>
          </a:ln>
        </p:spPr>
      </p:sp>
      <p:sp>
        <p:nvSpPr>
          <p:cNvPr id="15" name="Shape 13"/>
          <p:cNvSpPr/>
          <p:nvPr/>
        </p:nvSpPr>
        <p:spPr>
          <a:xfrm>
            <a:off x="758952" y="3639312"/>
            <a:ext cx="329184" cy="329184"/>
          </a:xfrm>
          <a:prstGeom prst="ellipse">
            <a:avLst/>
          </a:prstGeom>
          <a:solidFill>
            <a:srgbClr val="EB6834"/>
          </a:solidFill>
          <a:ln/>
        </p:spPr>
      </p:sp>
      <p:sp>
        <p:nvSpPr>
          <p:cNvPr id="16" name="Text 14"/>
          <p:cNvSpPr/>
          <p:nvPr/>
        </p:nvSpPr>
        <p:spPr>
          <a:xfrm>
            <a:off x="758952" y="363931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1234440" y="3602736"/>
            <a:ext cx="4480560" cy="292608"/>
          </a:xfrm>
          <a:prstGeom prst="rect">
            <a:avLst/>
          </a:prstGeom>
          <a:noFill/>
          <a:ln/>
        </p:spPr>
        <p:txBody>
          <a:bodyPr wrap="square" lIns="0" tIns="0" rIns="0" bIns="0" rtlCol="0" anchor="ctr"/>
          <a:lstStyle/>
          <a:p>
            <a:pPr indent="0" marL="0">
              <a:buNone/>
            </a:pPr>
            <a:r>
              <a:rPr lang="en-US" sz="1500" b="1" dirty="0">
                <a:solidFill>
                  <a:srgbClr val="0F1E2E"/>
                </a:solidFill>
                <a:latin typeface="Calibri" pitchFamily="34" charset="0"/>
                <a:ea typeface="Calibri" pitchFamily="34" charset="-122"/>
                <a:cs typeface="Calibri" pitchFamily="34" charset="-120"/>
              </a:rPr>
              <a:t>No clinical validity</a:t>
            </a:r>
            <a:endParaRPr lang="en-US" sz="1500" dirty="0"/>
          </a:p>
        </p:txBody>
      </p:sp>
      <p:sp>
        <p:nvSpPr>
          <p:cNvPr id="18" name="Text 16"/>
          <p:cNvSpPr/>
          <p:nvPr/>
        </p:nvSpPr>
        <p:spPr>
          <a:xfrm>
            <a:off x="1234440" y="3931920"/>
            <a:ext cx="4480560" cy="713232"/>
          </a:xfrm>
          <a:prstGeom prst="rect">
            <a:avLst/>
          </a:prstGeom>
          <a:noFill/>
          <a:ln/>
        </p:spPr>
        <p:txBody>
          <a:bodyPr wrap="square" lIns="0" tIns="0" rIns="0" bIns="0" rtlCol="0" anchor="ctr"/>
          <a:lstStyle/>
          <a:p>
            <a:pPr indent="0" marL="0">
              <a:lnSpc>
                <a:spcPts val="1600"/>
              </a:lnSpc>
              <a:buNone/>
            </a:pPr>
            <a:r>
              <a:rPr lang="en-US" sz="1150" dirty="0">
                <a:solidFill>
                  <a:srgbClr val="5A6B7B"/>
                </a:solidFill>
                <a:latin typeface="Calibri" pitchFamily="34" charset="0"/>
                <a:ea typeface="Calibri" pitchFamily="34" charset="-122"/>
                <a:cs typeface="Calibri" pitchFamily="34" charset="-120"/>
              </a:rPr>
              <a:t>No dose, no treatment, no diagnosis. This is a teaching prototype.</a:t>
            </a:r>
            <a:endParaRPr lang="en-US" sz="1150" dirty="0"/>
          </a:p>
        </p:txBody>
      </p:sp>
      <p:sp>
        <p:nvSpPr>
          <p:cNvPr id="19" name="Shape 17"/>
          <p:cNvSpPr/>
          <p:nvPr/>
        </p:nvSpPr>
        <p:spPr>
          <a:xfrm>
            <a:off x="6309360" y="3383280"/>
            <a:ext cx="5440680" cy="1371600"/>
          </a:xfrm>
          <a:prstGeom prst="roundRect">
            <a:avLst>
              <a:gd name="adj" fmla="val 6000"/>
            </a:avLst>
          </a:prstGeom>
          <a:solidFill>
            <a:srgbClr val="F4F7FA"/>
          </a:solidFill>
          <a:ln w="12700">
            <a:solidFill>
              <a:srgbClr val="DDE4EA"/>
            </a:solidFill>
            <a:prstDash val="solid"/>
          </a:ln>
        </p:spPr>
      </p:sp>
      <p:sp>
        <p:nvSpPr>
          <p:cNvPr id="20" name="Shape 18"/>
          <p:cNvSpPr/>
          <p:nvPr/>
        </p:nvSpPr>
        <p:spPr>
          <a:xfrm>
            <a:off x="6565392" y="3639312"/>
            <a:ext cx="329184" cy="329184"/>
          </a:xfrm>
          <a:prstGeom prst="ellipse">
            <a:avLst/>
          </a:prstGeom>
          <a:solidFill>
            <a:srgbClr val="EB6834"/>
          </a:solidFill>
          <a:ln/>
        </p:spPr>
      </p:sp>
      <p:sp>
        <p:nvSpPr>
          <p:cNvPr id="21" name="Text 19"/>
          <p:cNvSpPr/>
          <p:nvPr/>
        </p:nvSpPr>
        <p:spPr>
          <a:xfrm>
            <a:off x="6565392" y="3639312"/>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7040880" y="3602736"/>
            <a:ext cx="4480560" cy="292608"/>
          </a:xfrm>
          <a:prstGeom prst="rect">
            <a:avLst/>
          </a:prstGeom>
          <a:noFill/>
          <a:ln/>
        </p:spPr>
        <p:txBody>
          <a:bodyPr wrap="square" lIns="0" tIns="0" rIns="0" bIns="0" rtlCol="0" anchor="ctr"/>
          <a:lstStyle/>
          <a:p>
            <a:pPr indent="0" marL="0">
              <a:buNone/>
            </a:pPr>
            <a:r>
              <a:rPr lang="en-US" sz="1500" b="1" dirty="0">
                <a:solidFill>
                  <a:srgbClr val="0F1E2E"/>
                </a:solidFill>
                <a:latin typeface="Calibri" pitchFamily="34" charset="0"/>
                <a:ea typeface="Calibri" pitchFamily="34" charset="-122"/>
                <a:cs typeface="Calibri" pitchFamily="34" charset="-120"/>
              </a:rPr>
              <a:t>Fairness untested</a:t>
            </a:r>
            <a:endParaRPr lang="en-US" sz="1500" dirty="0"/>
          </a:p>
        </p:txBody>
      </p:sp>
      <p:sp>
        <p:nvSpPr>
          <p:cNvPr id="23" name="Text 21"/>
          <p:cNvSpPr/>
          <p:nvPr/>
        </p:nvSpPr>
        <p:spPr>
          <a:xfrm>
            <a:off x="7040880" y="3931920"/>
            <a:ext cx="4480560" cy="713232"/>
          </a:xfrm>
          <a:prstGeom prst="rect">
            <a:avLst/>
          </a:prstGeom>
          <a:noFill/>
          <a:ln/>
        </p:spPr>
        <p:txBody>
          <a:bodyPr wrap="square" lIns="0" tIns="0" rIns="0" bIns="0" rtlCol="0" anchor="ctr"/>
          <a:lstStyle/>
          <a:p>
            <a:pPr indent="0" marL="0">
              <a:lnSpc>
                <a:spcPts val="1600"/>
              </a:lnSpc>
              <a:buNone/>
            </a:pPr>
            <a:r>
              <a:rPr lang="en-US" sz="1150" dirty="0">
                <a:solidFill>
                  <a:srgbClr val="5A6B7B"/>
                </a:solidFill>
                <a:latin typeface="Calibri" pitchFamily="34" charset="0"/>
                <a:ea typeface="Calibri" pitchFamily="34" charset="-122"/>
                <a:cs typeface="Calibri" pitchFamily="34" charset="-120"/>
              </a:rPr>
              <a:t>Our cohort contained no hypoglycaemic events, so the most clinically important detection could not be evaluated.</a:t>
            </a:r>
            <a:endParaRPr lang="en-US" sz="1150" dirty="0"/>
          </a:p>
        </p:txBody>
      </p:sp>
      <p:sp>
        <p:nvSpPr>
          <p:cNvPr id="24" name="Shape 22"/>
          <p:cNvSpPr/>
          <p:nvPr/>
        </p:nvSpPr>
        <p:spPr>
          <a:xfrm>
            <a:off x="502920" y="5029200"/>
            <a:ext cx="11155680" cy="868680"/>
          </a:xfrm>
          <a:prstGeom prst="roundRect">
            <a:avLst>
              <a:gd name="adj" fmla="val 9474"/>
            </a:avLst>
          </a:prstGeom>
          <a:solidFill>
            <a:srgbClr val="F0F7F3"/>
          </a:solidFill>
          <a:ln w="12700">
            <a:solidFill>
              <a:srgbClr val="DDE4EA"/>
            </a:solidFill>
            <a:prstDash val="solid"/>
          </a:ln>
        </p:spPr>
      </p:sp>
      <p:sp>
        <p:nvSpPr>
          <p:cNvPr id="25" name="Text 23"/>
          <p:cNvSpPr/>
          <p:nvPr/>
        </p:nvSpPr>
        <p:spPr>
          <a:xfrm>
            <a:off x="822960" y="5193792"/>
            <a:ext cx="10515600" cy="548640"/>
          </a:xfrm>
          <a:prstGeom prst="rect">
            <a:avLst/>
          </a:prstGeom>
          <a:noFill/>
          <a:ln/>
        </p:spPr>
        <p:txBody>
          <a:bodyPr wrap="square" lIns="0" tIns="0" rIns="0" bIns="0" rtlCol="0" anchor="ctr"/>
          <a:lstStyle/>
          <a:p>
            <a:pPr indent="0" marL="0">
              <a:buNone/>
            </a:pPr>
            <a:r>
              <a:rPr lang="en-US" sz="1400" b="1" i="1" dirty="0">
                <a:solidFill>
                  <a:srgbClr val="1BAF7A"/>
                </a:solidFill>
                <a:latin typeface="Calibri" pitchFamily="34" charset="0"/>
                <a:ea typeface="Calibri" pitchFamily="34" charset="-122"/>
                <a:cs typeface="Calibri" pitchFamily="34" charset="-120"/>
              </a:rPr>
              <a:t>The honest reporting of what does not work is what separates research from a sales pitch.</a:t>
            </a:r>
            <a:endParaRPr lang="en-US" sz="1400" dirty="0"/>
          </a:p>
        </p:txBody>
      </p:sp>
      <p:sp>
        <p:nvSpPr>
          <p:cNvPr id="26" name="Text 24"/>
          <p:cNvSpPr/>
          <p:nvPr/>
        </p:nvSpPr>
        <p:spPr>
          <a:xfrm>
            <a:off x="502920" y="6327648"/>
            <a:ext cx="6400800" cy="292608"/>
          </a:xfrm>
          <a:prstGeom prst="rect">
            <a:avLst/>
          </a:prstGeom>
          <a:noFill/>
          <a:ln/>
        </p:spPr>
        <p:txBody>
          <a:bodyPr wrap="square" lIns="0" tIns="0" rIns="0" bIns="0" rtlCol="0" anchor="ctr"/>
          <a:lstStyle/>
          <a:p>
            <a:pPr indent="0" marL="0">
              <a:buNone/>
            </a:pPr>
            <a:r>
              <a:rPr lang="en-US" sz="1000" dirty="0">
                <a:solidFill>
                  <a:srgbClr val="5A6B7B"/>
                </a:solidFill>
                <a:latin typeface="Calibri" pitchFamily="34" charset="0"/>
                <a:ea typeface="Calibri" pitchFamily="34" charset="-122"/>
                <a:cs typeface="Calibri" pitchFamily="34" charset="-120"/>
              </a:rPr>
              <a:t>Jean Direl NZE</a:t>
            </a:r>
            <a:endParaRPr lang="en-US" sz="1000" dirty="0"/>
          </a:p>
        </p:txBody>
      </p:sp>
      <p:sp>
        <p:nvSpPr>
          <p:cNvPr id="27" name="Text 25"/>
          <p:cNvSpPr/>
          <p:nvPr/>
        </p:nvSpPr>
        <p:spPr>
          <a:xfrm>
            <a:off x="11247120" y="6327648"/>
            <a:ext cx="457200" cy="292608"/>
          </a:xfrm>
          <a:prstGeom prst="rect">
            <a:avLst/>
          </a:prstGeom>
          <a:noFill/>
          <a:ln/>
        </p:spPr>
        <p:txBody>
          <a:bodyPr wrap="square" lIns="0" tIns="0" rIns="0" bIns="0" rtlCol="0" anchor="ctr"/>
          <a:lstStyle/>
          <a:p>
            <a:pPr algn="r" indent="0" marL="0">
              <a:buNone/>
            </a:pPr>
            <a:r>
              <a:rPr lang="en-US" sz="1000" dirty="0">
                <a:solidFill>
                  <a:srgbClr val="5A6B7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E2E"/>
        </a:solidFill>
      </p:bgPr>
    </p:bg>
    <p:spTree>
      <p:nvGrpSpPr>
        <p:cNvPr id="1" name=""/>
        <p:cNvGrpSpPr/>
        <p:nvPr/>
      </p:nvGrpSpPr>
      <p:grpSpPr>
        <a:xfrm>
          <a:off x="0" y="0"/>
          <a:ext cx="0" cy="0"/>
          <a:chOff x="0" y="0"/>
          <a:chExt cx="0" cy="0"/>
        </a:xfrm>
      </p:grpSpPr>
      <p:sp>
        <p:nvSpPr>
          <p:cNvPr id="2" name="Shape 0"/>
          <p:cNvSpPr/>
          <p:nvPr/>
        </p:nvSpPr>
        <p:spPr>
          <a:xfrm>
            <a:off x="9326880" y="3566160"/>
            <a:ext cx="5029200" cy="5029200"/>
          </a:xfrm>
          <a:prstGeom prst="ellipse">
            <a:avLst/>
          </a:prstGeom>
          <a:solidFill>
            <a:srgbClr val="14304A"/>
          </a:solidFill>
          <a:ln/>
        </p:spPr>
      </p:sp>
      <p:sp>
        <p:nvSpPr>
          <p:cNvPr id="3" name="Text 1"/>
          <p:cNvSpPr/>
          <p:nvPr/>
        </p:nvSpPr>
        <p:spPr>
          <a:xfrm>
            <a:off x="731520" y="685800"/>
            <a:ext cx="10698480" cy="411480"/>
          </a:xfrm>
          <a:prstGeom prst="rect">
            <a:avLst/>
          </a:prstGeom>
          <a:noFill/>
          <a:ln/>
        </p:spPr>
        <p:txBody>
          <a:bodyPr wrap="square" lIns="0" tIns="0" rIns="0" bIns="0" rtlCol="0" anchor="ctr"/>
          <a:lstStyle/>
          <a:p>
            <a:pPr indent="0" marL="0">
              <a:buNone/>
            </a:pPr>
            <a:r>
              <a:rPr lang="en-US" sz="1500" b="1" spc="200" kern="0" dirty="0">
                <a:solidFill>
                  <a:srgbClr val="EB6834"/>
                </a:solidFill>
                <a:latin typeface="Calibri" pitchFamily="34" charset="0"/>
                <a:ea typeface="Calibri" pitchFamily="34" charset="-122"/>
                <a:cs typeface="Calibri" pitchFamily="34" charset="-120"/>
              </a:rPr>
              <a:t>What we contribute</a:t>
            </a:r>
            <a:endParaRPr lang="en-US" sz="1500" dirty="0"/>
          </a:p>
        </p:txBody>
      </p:sp>
      <p:sp>
        <p:nvSpPr>
          <p:cNvPr id="4" name="Text 2"/>
          <p:cNvSpPr/>
          <p:nvPr/>
        </p:nvSpPr>
        <p:spPr>
          <a:xfrm>
            <a:off x="731520" y="1188720"/>
            <a:ext cx="10058400" cy="1005840"/>
          </a:xfrm>
          <a:prstGeom prst="rect">
            <a:avLst/>
          </a:prstGeom>
          <a:noFill/>
          <a:ln/>
        </p:spPr>
        <p:txBody>
          <a:bodyPr wrap="square" lIns="0" tIns="0" rIns="0" bIns="0" rtlCol="0" anchor="ctr"/>
          <a:lstStyle/>
          <a:p>
            <a:pPr indent="0" marL="0">
              <a:lnSpc>
                <a:spcPts val="3800"/>
              </a:lnSpc>
              <a:buNone/>
            </a:pPr>
            <a:r>
              <a:rPr lang="en-US" sz="2900" b="1" dirty="0">
                <a:solidFill>
                  <a:srgbClr val="FFFFFF"/>
                </a:solidFill>
                <a:latin typeface="Cambria" pitchFamily="34" charset="0"/>
                <a:ea typeface="Cambria" pitchFamily="34" charset="-122"/>
                <a:cs typeface="Cambria" pitchFamily="34" charset="-120"/>
              </a:rPr>
              <a:t>Most digital twins predict a number.</a:t>
            </a:r>
            <a:endParaRPr lang="en-US" sz="2900" dirty="0"/>
          </a:p>
          <a:p>
            <a:pPr indent="0" marL="0">
              <a:lnSpc>
                <a:spcPts val="3800"/>
              </a:lnSpc>
              <a:buNone/>
            </a:pPr>
            <a:r>
              <a:rPr lang="en-US" sz="2900" b="1" dirty="0">
                <a:solidFill>
                  <a:srgbClr val="FFFFFF"/>
                </a:solidFill>
                <a:latin typeface="Cambria" pitchFamily="34" charset="0"/>
                <a:ea typeface="Cambria" pitchFamily="34" charset="-122"/>
                <a:cs typeface="Cambria" pitchFamily="34" charset="-120"/>
              </a:rPr>
              <a:t>Ours explains a mechanism.</a:t>
            </a:r>
            <a:endParaRPr lang="en-US" sz="2900" dirty="0"/>
          </a:p>
        </p:txBody>
      </p:sp>
      <p:sp>
        <p:nvSpPr>
          <p:cNvPr id="5" name="Text 3"/>
          <p:cNvSpPr/>
          <p:nvPr/>
        </p:nvSpPr>
        <p:spPr>
          <a:xfrm>
            <a:off x="731520" y="2286000"/>
            <a:ext cx="9601200" cy="548640"/>
          </a:xfrm>
          <a:prstGeom prst="rect">
            <a:avLst/>
          </a:prstGeom>
          <a:noFill/>
          <a:ln/>
        </p:spPr>
        <p:txBody>
          <a:bodyPr wrap="square" lIns="0" tIns="0" rIns="0" bIns="0" rtlCol="0" anchor="ctr"/>
          <a:lstStyle/>
          <a:p>
            <a:pPr indent="0" marL="0">
              <a:lnSpc>
                <a:spcPts val="2000"/>
              </a:lnSpc>
              <a:buNone/>
            </a:pPr>
            <a:r>
              <a:rPr lang="en-US" sz="1400" dirty="0">
                <a:solidFill>
                  <a:srgbClr val="AFC3D4"/>
                </a:solidFill>
                <a:latin typeface="Calibri" pitchFamily="34" charset="0"/>
                <a:ea typeface="Calibri" pitchFamily="34" charset="-122"/>
                <a:cs typeface="Calibri" pitchFamily="34" charset="-120"/>
              </a:rPr>
              <a:t>From what you do, to what your body consumes, to what your glucose becomes, to what you can change — every step readable and checkable.</a:t>
            </a:r>
            <a:endParaRPr lang="en-US" sz="1400" dirty="0"/>
          </a:p>
        </p:txBody>
      </p:sp>
      <p:sp>
        <p:nvSpPr>
          <p:cNvPr id="6" name="Shape 4"/>
          <p:cNvSpPr/>
          <p:nvPr/>
        </p:nvSpPr>
        <p:spPr>
          <a:xfrm>
            <a:off x="777240" y="3118104"/>
            <a:ext cx="274320" cy="274320"/>
          </a:xfrm>
          <a:prstGeom prst="ellipse">
            <a:avLst/>
          </a:prstGeom>
          <a:solidFill>
            <a:srgbClr val="EB6834"/>
          </a:solidFill>
          <a:ln/>
        </p:spPr>
      </p:sp>
      <p:sp>
        <p:nvSpPr>
          <p:cNvPr id="7" name="Text 5"/>
          <p:cNvSpPr/>
          <p:nvPr/>
        </p:nvSpPr>
        <p:spPr>
          <a:xfrm>
            <a:off x="1188720" y="3063240"/>
            <a:ext cx="37490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Interpretable by design</a:t>
            </a:r>
            <a:endParaRPr lang="en-US" sz="1400" dirty="0"/>
          </a:p>
        </p:txBody>
      </p:sp>
      <p:sp>
        <p:nvSpPr>
          <p:cNvPr id="8" name="Text 6"/>
          <p:cNvSpPr/>
          <p:nvPr/>
        </p:nvSpPr>
        <p:spPr>
          <a:xfrm>
            <a:off x="5029200" y="3063240"/>
            <a:ext cx="5120640" cy="365760"/>
          </a:xfrm>
          <a:prstGeom prst="rect">
            <a:avLst/>
          </a:prstGeom>
          <a:noFill/>
          <a:ln/>
        </p:spPr>
        <p:txBody>
          <a:bodyPr wrap="square" lIns="0" tIns="0" rIns="0" bIns="0" rtlCol="0" anchor="ctr"/>
          <a:lstStyle/>
          <a:p>
            <a:pPr indent="0" marL="0">
              <a:buNone/>
            </a:pPr>
            <a:r>
              <a:rPr lang="en-US" sz="1200" dirty="0">
                <a:solidFill>
                  <a:srgbClr val="AFC3D4"/>
                </a:solidFill>
                <a:latin typeface="Calibri" pitchFamily="34" charset="0"/>
                <a:ea typeface="Calibri" pitchFamily="34" charset="-122"/>
                <a:cs typeface="Calibri" pitchFamily="34" charset="-120"/>
              </a:rPr>
              <a:t>a physiological bottleneck, not post-hoc explanations</a:t>
            </a:r>
            <a:endParaRPr lang="en-US" sz="1200" dirty="0"/>
          </a:p>
        </p:txBody>
      </p:sp>
      <p:sp>
        <p:nvSpPr>
          <p:cNvPr id="9" name="Shape 7"/>
          <p:cNvSpPr/>
          <p:nvPr/>
        </p:nvSpPr>
        <p:spPr>
          <a:xfrm>
            <a:off x="777240" y="3877056"/>
            <a:ext cx="274320" cy="274320"/>
          </a:xfrm>
          <a:prstGeom prst="ellipse">
            <a:avLst/>
          </a:prstGeom>
          <a:solidFill>
            <a:srgbClr val="EB6834"/>
          </a:solidFill>
          <a:ln/>
        </p:spPr>
      </p:sp>
      <p:sp>
        <p:nvSpPr>
          <p:cNvPr id="10" name="Text 8"/>
          <p:cNvSpPr/>
          <p:nvPr/>
        </p:nvSpPr>
        <p:spPr>
          <a:xfrm>
            <a:off x="1188720" y="3822192"/>
            <a:ext cx="37490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Honest evaluation</a:t>
            </a:r>
            <a:endParaRPr lang="en-US" sz="1400" dirty="0"/>
          </a:p>
        </p:txBody>
      </p:sp>
      <p:sp>
        <p:nvSpPr>
          <p:cNvPr id="11" name="Text 9"/>
          <p:cNvSpPr/>
          <p:nvPr/>
        </p:nvSpPr>
        <p:spPr>
          <a:xfrm>
            <a:off x="5029200" y="3822192"/>
            <a:ext cx="5120640" cy="365760"/>
          </a:xfrm>
          <a:prstGeom prst="rect">
            <a:avLst/>
          </a:prstGeom>
          <a:noFill/>
          <a:ln/>
        </p:spPr>
        <p:txBody>
          <a:bodyPr wrap="square" lIns="0" tIns="0" rIns="0" bIns="0" rtlCol="0" anchor="ctr"/>
          <a:lstStyle/>
          <a:p>
            <a:pPr indent="0" marL="0">
              <a:buNone/>
            </a:pPr>
            <a:r>
              <a:rPr lang="en-US" sz="1200" dirty="0">
                <a:solidFill>
                  <a:srgbClr val="AFC3D4"/>
                </a:solidFill>
                <a:latin typeface="Calibri" pitchFamily="34" charset="0"/>
                <a:ea typeface="Calibri" pitchFamily="34" charset="-122"/>
                <a:cs typeface="Calibri" pitchFamily="34" charset="-120"/>
              </a:rPr>
              <a:t>leave-one-patient-out, persistence baseline, guaranteed intervals</a:t>
            </a:r>
            <a:endParaRPr lang="en-US" sz="1200" dirty="0"/>
          </a:p>
        </p:txBody>
      </p:sp>
      <p:sp>
        <p:nvSpPr>
          <p:cNvPr id="12" name="Shape 10"/>
          <p:cNvSpPr/>
          <p:nvPr/>
        </p:nvSpPr>
        <p:spPr>
          <a:xfrm>
            <a:off x="777240" y="4636008"/>
            <a:ext cx="274320" cy="274320"/>
          </a:xfrm>
          <a:prstGeom prst="ellipse">
            <a:avLst/>
          </a:prstGeom>
          <a:solidFill>
            <a:srgbClr val="EB6834"/>
          </a:solidFill>
          <a:ln/>
        </p:spPr>
      </p:sp>
      <p:sp>
        <p:nvSpPr>
          <p:cNvPr id="13" name="Text 11"/>
          <p:cNvSpPr/>
          <p:nvPr/>
        </p:nvSpPr>
        <p:spPr>
          <a:xfrm>
            <a:off x="1188720" y="4581144"/>
            <a:ext cx="37490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measured contradiction</a:t>
            </a:r>
            <a:endParaRPr lang="en-US" sz="1400" dirty="0"/>
          </a:p>
        </p:txBody>
      </p:sp>
      <p:sp>
        <p:nvSpPr>
          <p:cNvPr id="14" name="Text 12"/>
          <p:cNvSpPr/>
          <p:nvPr/>
        </p:nvSpPr>
        <p:spPr>
          <a:xfrm>
            <a:off x="5029200" y="4581144"/>
            <a:ext cx="5120640" cy="365760"/>
          </a:xfrm>
          <a:prstGeom prst="rect">
            <a:avLst/>
          </a:prstGeom>
          <a:noFill/>
          <a:ln/>
        </p:spPr>
        <p:txBody>
          <a:bodyPr wrap="square" lIns="0" tIns="0" rIns="0" bIns="0" rtlCol="0" anchor="ctr"/>
          <a:lstStyle/>
          <a:p>
            <a:pPr indent="0" marL="0">
              <a:buNone/>
            </a:pPr>
            <a:r>
              <a:rPr lang="en-US" sz="1200" dirty="0">
                <a:solidFill>
                  <a:srgbClr val="AFC3D4"/>
                </a:solidFill>
                <a:latin typeface="Calibri" pitchFamily="34" charset="0"/>
                <a:ea typeface="Calibri" pitchFamily="34" charset="-122"/>
                <a:cs typeface="Calibri" pitchFamily="34" charset="-120"/>
              </a:rPr>
              <a:t>better mean error, worse clinical detection</a:t>
            </a:r>
            <a:endParaRPr lang="en-US" sz="1200" dirty="0"/>
          </a:p>
        </p:txBody>
      </p:sp>
      <p:sp>
        <p:nvSpPr>
          <p:cNvPr id="15" name="Text 13"/>
          <p:cNvSpPr/>
          <p:nvPr/>
        </p:nvSpPr>
        <p:spPr>
          <a:xfrm>
            <a:off x="731520" y="5440680"/>
            <a:ext cx="9692640" cy="502920"/>
          </a:xfrm>
          <a:prstGeom prst="rect">
            <a:avLst/>
          </a:prstGeom>
          <a:noFill/>
          <a:ln/>
        </p:spPr>
        <p:txBody>
          <a:bodyPr wrap="square" lIns="0" tIns="0" rIns="0" bIns="0" rtlCol="0" anchor="ctr"/>
          <a:lstStyle/>
          <a:p>
            <a:pPr indent="0" marL="0">
              <a:lnSpc>
                <a:spcPts val="1700"/>
              </a:lnSpc>
              <a:buNone/>
            </a:pPr>
            <a:r>
              <a:rPr lang="en-US" sz="1250" i="1" dirty="0">
                <a:solidFill>
                  <a:srgbClr val="EB6834"/>
                </a:solidFill>
                <a:latin typeface="Calibri" pitchFamily="34" charset="0"/>
                <a:ea typeface="Calibri" pitchFamily="34" charset="-122"/>
                <a:cs typeface="Calibri" pitchFamily="34" charset="-120"/>
              </a:rPr>
              <a:t>Next: plug in real CGMacros data — 45 real participants. The protocol is frozen, which is what will make the answer credible.</a:t>
            </a:r>
            <a:endParaRPr lang="en-US" sz="1250" dirty="0"/>
          </a:p>
        </p:txBody>
      </p:sp>
      <p:sp>
        <p:nvSpPr>
          <p:cNvPr id="16" name="Text 14"/>
          <p:cNvSpPr/>
          <p:nvPr/>
        </p:nvSpPr>
        <p:spPr>
          <a:xfrm>
            <a:off x="731520" y="6035040"/>
            <a:ext cx="5486400" cy="274320"/>
          </a:xfrm>
          <a:prstGeom prst="rect">
            <a:avLst/>
          </a:prstGeom>
          <a:noFill/>
          <a:ln/>
        </p:spPr>
        <p:txBody>
          <a:bodyPr wrap="square" lIns="0" tIns="0" rIns="0" bIns="0" rtlCol="0" anchor="ctr"/>
          <a:lstStyle/>
          <a:p>
            <a:pPr indent="0" marL="0">
              <a:buNone/>
            </a:pPr>
            <a:r>
              <a:rPr lang="en-US" sz="1100" dirty="0">
                <a:solidFill>
                  <a:srgbClr val="5A6B7B"/>
                </a:solidFill>
                <a:latin typeface="Calibri" pitchFamily="34" charset="0"/>
                <a:ea typeface="Calibri" pitchFamily="34" charset="-122"/>
                <a:cs typeface="Calibri" pitchFamily="34" charset="-120"/>
              </a:rPr>
              <a:t>github.com/…/GlucoTwin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GlucoTwin — Accuracy is not enough</dc:title>
  <dc:subject>PptxGenJS Presentation</dc:subject>
  <dc:creator>Likassi, Djomo, Nze, Ondo, Ndinga</dc:creator>
  <cp:lastModifiedBy>Likassi, Djomo, Nze, Ondo, Ndinga</cp:lastModifiedBy>
  <cp:revision>1</cp:revision>
  <dcterms:created xsi:type="dcterms:W3CDTF">2026-08-13T09:50:51Z</dcterms:created>
  <dcterms:modified xsi:type="dcterms:W3CDTF">2026-08-13T09:50:51Z</dcterms:modified>
</cp:coreProperties>
</file>